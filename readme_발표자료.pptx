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[타이틀 슬라이드 발표 멘트]
안녕하십니까. 저희는 README 팀입니다.
지금부터 기업연계형 프로젝트 1, ReadMe 온라인 서점 웹 애플리케이션 발표를 시작하겠습니다.
발표 역할 안내
- 발표 :     [발표자 이름]
- 프로젝터 : [담당 이름]
- 촬영 :     [담당 이름]
본 발표는 프로젝트 개발 프로세스 순으로 산출물 위주로 진행합니다.
혼선이 생길 경우 상황을 잠깐 설명하고 양해를 구한 뒤 다음 내용으로 전개하겠습니다.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 멘트]
오늘 발표 순서를 먼저 안내해 드리겠습니다.
팀 소개와 프로젝트 개요, 시스템 아키텍처를 시작으로,
주요 구현 기능과 서비스 흐름 설계를 말씀드리겠습니다.
이어서 결제 시스템, 시연 계획, 그리고 미구현 항목도 솔직하게 공유한 후 Q&amp;A로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소개 멘트]
팀 전원이 빔 앞으로 나와 인사드리겠습니다. (팀원 전원 앞으로 나옴 → 인사)
저희 팀은 README 팀으로, 총 [N]명으로 구성되어 있습니다.
저는 오늘 발표를 담당하는 [이름]입니다.
각 팀원의 역할을 소개해 드리겠습니다.
박주환 팀원은 PM과 DB 설계를 담당하여 프로젝트 전반 일정 관리 및 데이터베이스 구축을 이끌었습니다.
[팀원명] 팀원은 Spring Boot API 개발과 Spring Security를 활용한 인증/인가를 담당했습니다.
[팀원명] 팀원은 토스페이·카카오페이 결제 연동 및 주문·배송 비즈니스 로직을 구현했습니다.
[팀원명] 팀원은 Vue.js 3 기반 프론트엔드 전반 화면 구현을 담당했습니다.
※ 팀원 이름을 실제 팀원 정보로 반드시 업데이트해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개요 멘트]
저희 팀이 개발한 프로젝트는 'ReadMe'라는 이름의 온라인 서점 웹 애플리케이션입니다.
교보문고 스타일의 쇼핑몰을 기획부터 구현까지 직접 진행했습니다.
기획 배경으로는, 교육 과정에서 학습한 Spring Boot와 Vue.js를 실제 서비스 수준의 프로젝트에 적용해보는 것을 목표로 삼았습니다.
단순 CRUD가 아니라, 실제 이커머스 운영에서 필요한 주문 승인 흐름, 배송 상태 연동, 환불 정책까지 구현하려 노력했습니다.
개발 기간은 2026년 3월 13일부터 4월 12일까지 약 1개월이며, GitHub·Notion·Discord를 활용하여 팀 협업을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아키텍처 멘트]
시스템은 프론트엔드, 백엔드, 인프라 세 층으로 구성됩니다.
프론트엔드는 Vue.js 3를 기반으로 하며, Pinia로 전역 상태 관리, Vue Router로 라우팅, Axios로 API 통신을 처리합니다.
백엔드는 Java 21과 Spring Boot 3.x를 사용하고, Spring Data JPA로 데이터 접근, Spring Security로 인증/권한을 처리합니다. Swagger로 API 문서화도 적용했습니다.
인프라는 Docker와 Docker Compose로 컨테이너화하고 Nginx를 리버스 프록시로 활용했습니다. CI/CD는 GitHub Actions를 적용했습니다.
프론트엔드와 백엔드는 REST API로 통신하는 표준적인 분리 아키텍처입니다.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구현 기능 멘트]
구현한 주요 기능은 6가지 영역입니다.
첫째, 회원 시스템 — Spring Security 기반 로그인/인증부터 마이페이지까지 구현했습니다.
둘째, 상품 관리 — 목록·상세 조회, 카테고리, 재고 관리를 구현했습니다.
셋째, 장바구니와 주문 — 실제 쇼핑몰과 동일한 구매 흐름을 구현했습니다.
넷째, 결제 시스템 — 토스페이·카카오페이·계좌이체 3종은 정상 동작하며, 네이버페이는 부분 구현 상태입니다.
다섯째, 배송 관리 — 관리자 승인 후 배송 레코드가 자동 생성되는 2단계 흐름을 구현했습니다.
여섯째, 게시판과 CS — 공지사항·Q&amp;A·리뷰 시스템을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 흐름 설계 멘트]
저희 프로젝트의 핵심 설계 포인트는 주문과 배송 상태를 명확하게 단계별로 분리한 것입니다.
결제 완료 직후 바로 배송으로 넘어가지 않고,
결제 완료(PENDING) → 관리자 승인(APPROVAL) → 배송 중(DELIVERING) → 배송 완료(DELIVERED)
의 단계를 코드로 명확하게 구현했습니다.
핵심 설계 포인트 세 가지를 말씀드리겠습니다.
첫째, 결제 완료 시점에는 배송 레코드를 생성하지 않고, 관리자 승인 시점에만 생성합니다.
둘째, 관리자가 배송 상태를 변경하면 사용자 화면에 자동으로 반영됩니다.
셋째, 택배사와 운송장 번호 없이는 출고 처리가 불가능하도록 검증 로직을 내장했습니다.
또한 배송 중 취소 시 반품비 6,000원을 차감하고, 배송 완료 후에는 취소 불가 정책을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[결제 시스템 멘트]
결제 시스템은 총 4가지 수단을 지원합니다.
토스페이와 카카오페이는 각 플랫폼의 공식 API를 연동하여 실제 결제 승인 흐름이 동작합니다.
결제 취소 시 상태에 따른 전액 환불 또는 반품비 차감 환불까지 연계 구현되어 있습니다.
계좌이체는 외부 PG 없이 독립 방식으로 구현했으며, 주문·결제 내역에 정상 기록됩니다.
다만 네이버페이는 결제 준비 단계에서 실제 paymentId를 발급받지 않고 orderId를 임시로 사용하는 샌드박스 수준의 구현으로, 실서비스 투입에는 추가 작업이 필요합니다.
이 부분은 미완성으로 솔직하게 말씀드립니다.
각 결제 수단은 단순히 버튼 UI가 다른 것이 아니라, 내부 결제 처리 정책과 환불 흐름이 분리되어 있다는 점이 특징입니다.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계획 멘트]
시연은 총 4개 시나리오로 진행합니다.
【시연 전 체크사항】
- 미리 빌드된 웹 애플리케이션 실행 및 DB 정상 여부 확인 완료
- 테스트용 사용자 계정 / 관리자 계정 로그인 준비 완료
- 결제 테스트용 계정 및 키 준비 완료
시연 01 — 사용자가 메인 화면에서 도서를 탐색하고 결제까지의 전체 구매 흐름을 보여드립니다.
시연 02 — 관리자 계정으로 주문 승인부터 출고 처리까지 진행하고, 사용자 화면에 자동 반영되는 것을 확인합니다.
시연 03 — 배송 단계별 취소 시 환불 정책이 다르게 적용되는 것을 보여드립니다.
시연 04 — 게시판과 마이페이지 기능을 확인합니다.
※ 작동이 안 되는 부분이 발견될 경우, 발표 시간을 고려하여 다음으로 넘어가고 다른 팀원이 점검 후 추후 시연합니다.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[미구현 항목 멘트]
미완성 항목을 솔직하게 말씀드리겠습니다.
현재 프로젝트는 빌드·컴파일은 정상 통과하며, 핵심 주문/결제 상태 흐름은 구현 완료 상태입니다.
다만 아래 항목들은 아직 완성되지 않았습니다.
가장 중요한 것은 네이버페이 실결제 연동입니다. 현재 임시 구현으로 실서비스 투입에는 추가 작업이 필요합니다.
중간 우선순위로는 관리자 주문 일괄 상태 변경 UI, 주문 승인 화면 통합, 사이드바 카테고리 API 연동이 있습니다.
비밀번호 재설정은 이메일 인증 없이 동작하는 임시 구현으로, 보안 강화가 필요합니다.
약 1개월의 개발 기간을 고려할 때, 핵심 흐름 구현에 집중하고 남은 항목은 우선순위에 따라 추후 보완할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안내]
반 훈련생으로부터 3건 이상의 질의를 받고 피드백합니다.
【추가 예상 질문 대비】
Q. Docker Compose로 실제 배포가 됐나요?
→ Docker Compose 구성은 완료했습니다. 실제 외부 서버 배포 현황은 [상황에 따라 답변].
Q. Spring Security 인증 방식은 무엇인가요?
→ 세션 기반 인증을 기본으로 사용했으며, 관리자/일반 사용자 권한을 Role로 분리했습니다.
Q. 테스트 코드는 작성했나요?
→ 시간 제약으로 커버리지가 부족한 부분이 있습니다. [상황에 따라 구체적으로 답변].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[추가 대비 질문]
Q. Vue.js와 Spring Boot를 처음 써봤나요?
→ 교육 과정에서 학습한 내용을 이번 프로젝트에 처음으로 실제 적용해보았습니다.
Q. HTTPS/SSL 설정은 했나요?
→ 프로젝트 개요서에 예정으로 기재했으나, [상황에 따라 구체적으로 답변].
Q. 관리자 페이지 접근 권한은 어떻게 제한했나요?
→ Spring Security의 Role 기반 접근 제어로 ADMIN Role이 없으면 관리자 경로(/admin/**)에 접근할 수 없도록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멘트]
이상으로 README 팀의 ReadMe 온라인 서점 프로젝트 발표를 마치겠습니다.
이번 프로젝트는 단순히 서점 화면 구현에 그치지 않고,
실제 온라인 서점 운영 흐름을 기준으로 사용자 주문, 관리자 승인, 배송 처리, 환불 정책,
게시판 운영까지 연결하는 데 집중했습니다.
특히 결제 완료와 배송 시작을 분리하고, 관리자와 사용자 화면의 상태를 맞물리게 설계한 점이 핵심 구현 포인트입니다.
미완성 부분도 솔직하게 공유해 드렸으며, 향후 네이버페이 연동, 카테고리 동적 반영, 보안 강화 등을 보완하여 완성도를 높이겠습니다.
이상으로 발표를 마치겠습니다. 감사합니다.
(팀 전원 퇴장 인사 후 자리에 착석)
---
【제출물 최종 체크리스트】
□ 산출물 (DB설계서, WBS, 기능명세서, 요구사항정의서, 유스케이스, 클래스/시퀀스 다이어그램)
□ 발표 자료 (PPT)
□ 소스 코드 (GitHub)
□ 발표 및 시연 동영상
□ 팀 사진 촬영본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E"/>
          </a:solidFill>
          <a:ln w="12700">
            <a:solidFill>
              <a:srgbClr val="C8A96E"/>
            </a:solidFill>
            <a:prstDash val="solid"/>
          </a:ln>
        </p:spPr>
      </p:sp>
      <p:sp>
        <p:nvSpPr>
          <p:cNvPr id="3" name="Shape 1"/>
          <p:cNvSpPr/>
          <p:nvPr/>
        </p:nvSpPr>
        <p:spPr>
          <a:xfrm>
            <a:off x="0" y="5070348"/>
            <a:ext cx="9144000" cy="73152"/>
          </a:xfrm>
          <a:prstGeom prst="rect">
            <a:avLst/>
          </a:prstGeom>
          <a:solidFill>
            <a:srgbClr val="C8A96E"/>
          </a:solidFill>
          <a:ln w="12700">
            <a:solidFill>
              <a:srgbClr val="C8A96E"/>
            </a:solidFill>
            <a:prstDash val="solid"/>
          </a:ln>
        </p:spPr>
      </p:sp>
      <p:sp>
        <p:nvSpPr>
          <p:cNvPr id="4" name="Shape 2"/>
          <p:cNvSpPr/>
          <p:nvPr/>
        </p:nvSpPr>
        <p:spPr>
          <a:xfrm>
            <a:off x="384048" y="777240"/>
            <a:ext cx="64008" cy="3200400"/>
          </a:xfrm>
          <a:prstGeom prst="rect">
            <a:avLst/>
          </a:prstGeom>
          <a:solidFill>
            <a:srgbClr val="C8A96E"/>
          </a:solidFill>
          <a:ln w="12700">
            <a:solidFill>
              <a:srgbClr val="C8A96E"/>
            </a:solidFill>
            <a:prstDash val="solid"/>
          </a:ln>
        </p:spPr>
      </p:sp>
      <p:sp>
        <p:nvSpPr>
          <p:cNvPr id="5" name="Text 3"/>
          <p:cNvSpPr/>
          <p:nvPr/>
        </p:nvSpPr>
        <p:spPr>
          <a:xfrm>
            <a:off x="640080" y="777240"/>
            <a:ext cx="8046720" cy="1005840"/>
          </a:xfrm>
          <a:prstGeom prst="rect">
            <a:avLst/>
          </a:prstGeom>
          <a:noFill/>
          <a:ln/>
        </p:spPr>
        <p:txBody>
          <a:bodyPr wrap="square" lIns="0" tIns="0" rIns="0" bIns="0" rtlCol="0" anchor="ctr"/>
          <a:lstStyle/>
          <a:p>
            <a:pPr algn="l" indent="0" marL="0">
              <a:buNone/>
            </a:pPr>
            <a:r>
              <a:rPr lang="en-US" sz="6000" b="1" dirty="0">
                <a:solidFill>
                  <a:srgbClr val="FFFFFF"/>
                </a:solidFill>
                <a:latin typeface="Georgia" pitchFamily="34" charset="0"/>
                <a:ea typeface="Georgia" pitchFamily="34" charset="-122"/>
                <a:cs typeface="Georgia" pitchFamily="34" charset="-120"/>
              </a:rPr>
              <a:t>ReadMe</a:t>
            </a:r>
            <a:endParaRPr lang="en-US" sz="6000" dirty="0"/>
          </a:p>
        </p:txBody>
      </p:sp>
      <p:sp>
        <p:nvSpPr>
          <p:cNvPr id="6" name="Text 4"/>
          <p:cNvSpPr/>
          <p:nvPr/>
        </p:nvSpPr>
        <p:spPr>
          <a:xfrm>
            <a:off x="640080" y="1719072"/>
            <a:ext cx="8046720" cy="594360"/>
          </a:xfrm>
          <a:prstGeom prst="rect">
            <a:avLst/>
          </a:prstGeom>
          <a:noFill/>
          <a:ln/>
        </p:spPr>
        <p:txBody>
          <a:bodyPr wrap="square" lIns="0" tIns="0" rIns="0" bIns="0" rtlCol="0" anchor="ctr"/>
          <a:lstStyle/>
          <a:p>
            <a:pPr algn="l" indent="0" marL="0">
              <a:buNone/>
            </a:pPr>
            <a:r>
              <a:rPr lang="en-US" sz="2400" dirty="0">
                <a:solidFill>
                  <a:srgbClr val="CADCFC"/>
                </a:solidFill>
                <a:latin typeface="Calibri" pitchFamily="34" charset="0"/>
                <a:ea typeface="Calibri" pitchFamily="34" charset="-122"/>
                <a:cs typeface="Calibri" pitchFamily="34" charset="-120"/>
              </a:rPr>
              <a:t>온라인 서점 웹 애플리케이션</a:t>
            </a:r>
            <a:endParaRPr lang="en-US" sz="2400" dirty="0"/>
          </a:p>
        </p:txBody>
      </p:sp>
      <p:sp>
        <p:nvSpPr>
          <p:cNvPr id="7" name="Shape 5"/>
          <p:cNvSpPr/>
          <p:nvPr/>
        </p:nvSpPr>
        <p:spPr>
          <a:xfrm>
            <a:off x="640080" y="2395728"/>
            <a:ext cx="5029200" cy="0"/>
          </a:xfrm>
          <a:prstGeom prst="line">
            <a:avLst/>
          </a:prstGeom>
          <a:noFill/>
          <a:ln w="19050">
            <a:solidFill>
              <a:srgbClr val="C8A96E"/>
            </a:solidFill>
            <a:prstDash val="solid"/>
          </a:ln>
        </p:spPr>
      </p:sp>
      <p:sp>
        <p:nvSpPr>
          <p:cNvPr id="8" name="Text 6"/>
          <p:cNvSpPr/>
          <p:nvPr/>
        </p:nvSpPr>
        <p:spPr>
          <a:xfrm>
            <a:off x="640080" y="2487168"/>
            <a:ext cx="8046720" cy="438912"/>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기업연계형 프로젝트 1  ·  Spring Boot 3.x  ·  Vue.js 3  ·  PostgreSQL  ·  Docker</a:t>
            </a:r>
            <a:endParaRPr lang="en-US" sz="1300" dirty="0"/>
          </a:p>
        </p:txBody>
      </p:sp>
      <p:sp>
        <p:nvSpPr>
          <p:cNvPr id="9" name="Shape 7"/>
          <p:cNvSpPr/>
          <p:nvPr/>
        </p:nvSpPr>
        <p:spPr>
          <a:xfrm>
            <a:off x="0" y="4370832"/>
            <a:ext cx="9144000" cy="694944"/>
          </a:xfrm>
          <a:prstGeom prst="rect">
            <a:avLst/>
          </a:prstGeom>
          <a:solidFill>
            <a:srgbClr val="142B45"/>
          </a:solidFill>
          <a:ln w="12700">
            <a:solidFill>
              <a:srgbClr val="142B45"/>
            </a:solidFill>
            <a:prstDash val="solid"/>
          </a:ln>
        </p:spPr>
      </p:sp>
      <p:sp>
        <p:nvSpPr>
          <p:cNvPr id="10" name="Text 8"/>
          <p:cNvSpPr/>
          <p:nvPr/>
        </p:nvSpPr>
        <p:spPr>
          <a:xfrm>
            <a:off x="640080" y="4462272"/>
            <a:ext cx="8046720" cy="457200"/>
          </a:xfrm>
          <a:prstGeom prst="rect">
            <a:avLst/>
          </a:prstGeom>
          <a:noFill/>
          <a:ln/>
        </p:spPr>
        <p:txBody>
          <a:bodyPr wrap="square" lIns="0" tIns="0" rIns="0" bIns="0" rtlCol="0" anchor="ctr"/>
          <a:lstStyle/>
          <a:p>
            <a:pPr indent="0" marL="0">
              <a:buNone/>
            </a:pPr>
            <a:r>
              <a:rPr lang="en-US" sz="1300" b="1" dirty="0">
                <a:solidFill>
                  <a:srgbClr val="C8A96E"/>
                </a:solidFill>
                <a:latin typeface="Calibri" pitchFamily="34" charset="0"/>
                <a:ea typeface="Calibri" pitchFamily="34" charset="-122"/>
                <a:cs typeface="Calibri" pitchFamily="34" charset="-120"/>
              </a:rPr>
              <a:t>README 팀</a:t>
            </a:r>
            <a:pPr indent="0" marL="0">
              <a:buNone/>
            </a:pPr>
            <a:r>
              <a:rPr lang="en-US" sz="1300" dirty="0">
                <a:solidFill>
                  <a:srgbClr val="CADCFC"/>
                </a:solidFill>
                <a:latin typeface="Calibri" pitchFamily="34" charset="0"/>
                <a:ea typeface="Calibri" pitchFamily="34" charset="-122"/>
                <a:cs typeface="Calibri" pitchFamily="34" charset="-120"/>
              </a:rPr>
              <a:t>   |   2026.03.13 ~ 2026.04.12   |   PM : 박주환</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목  차</a:t>
            </a:r>
            <a:endParaRPr lang="en-US" sz="2100" dirty="0"/>
          </a:p>
        </p:txBody>
      </p:sp>
      <p:sp>
        <p:nvSpPr>
          <p:cNvPr id="5" name="Shape 3"/>
          <p:cNvSpPr/>
          <p:nvPr/>
        </p:nvSpPr>
        <p:spPr>
          <a:xfrm>
            <a:off x="347472" y="749808"/>
            <a:ext cx="457200" cy="457200"/>
          </a:xfrm>
          <a:prstGeom prst="rect">
            <a:avLst/>
          </a:prstGeom>
          <a:solidFill>
            <a:srgbClr val="1E3A5F"/>
          </a:solidFill>
          <a:ln w="12700">
            <a:solidFill>
              <a:srgbClr val="1E3A5F"/>
            </a:solidFill>
            <a:prstDash val="solid"/>
          </a:ln>
        </p:spPr>
      </p:sp>
      <p:sp>
        <p:nvSpPr>
          <p:cNvPr id="6" name="Text 4"/>
          <p:cNvSpPr/>
          <p:nvPr/>
        </p:nvSpPr>
        <p:spPr>
          <a:xfrm>
            <a:off x="347472" y="749808"/>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01</a:t>
            </a:r>
            <a:endParaRPr lang="en-US" sz="1300" dirty="0"/>
          </a:p>
        </p:txBody>
      </p:sp>
      <p:sp>
        <p:nvSpPr>
          <p:cNvPr id="7" name="Text 5"/>
          <p:cNvSpPr/>
          <p:nvPr/>
        </p:nvSpPr>
        <p:spPr>
          <a:xfrm>
            <a:off x="896112" y="749808"/>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팀 소개</a:t>
            </a:r>
            <a:endParaRPr lang="en-US" sz="1400" dirty="0"/>
          </a:p>
        </p:txBody>
      </p:sp>
      <p:sp>
        <p:nvSpPr>
          <p:cNvPr id="8" name="Text 6"/>
          <p:cNvSpPr/>
          <p:nvPr/>
        </p:nvSpPr>
        <p:spPr>
          <a:xfrm>
            <a:off x="896112" y="996696"/>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README 팀 구성 및 역할 분담</a:t>
            </a:r>
            <a:endParaRPr lang="en-US" sz="1100" dirty="0"/>
          </a:p>
        </p:txBody>
      </p:sp>
      <p:sp>
        <p:nvSpPr>
          <p:cNvPr id="9" name="Shape 7"/>
          <p:cNvSpPr/>
          <p:nvPr/>
        </p:nvSpPr>
        <p:spPr>
          <a:xfrm>
            <a:off x="347472" y="1600200"/>
            <a:ext cx="457200" cy="457200"/>
          </a:xfrm>
          <a:prstGeom prst="rect">
            <a:avLst/>
          </a:prstGeom>
          <a:solidFill>
            <a:srgbClr val="1E3A5F"/>
          </a:solidFill>
          <a:ln w="12700">
            <a:solidFill>
              <a:srgbClr val="1E3A5F"/>
            </a:solidFill>
            <a:prstDash val="solid"/>
          </a:ln>
        </p:spPr>
      </p:sp>
      <p:sp>
        <p:nvSpPr>
          <p:cNvPr id="10" name="Text 8"/>
          <p:cNvSpPr/>
          <p:nvPr/>
        </p:nvSpPr>
        <p:spPr>
          <a:xfrm>
            <a:off x="347472" y="1600200"/>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02</a:t>
            </a:r>
            <a:endParaRPr lang="en-US" sz="1300" dirty="0"/>
          </a:p>
        </p:txBody>
      </p:sp>
      <p:sp>
        <p:nvSpPr>
          <p:cNvPr id="11" name="Text 9"/>
          <p:cNvSpPr/>
          <p:nvPr/>
        </p:nvSpPr>
        <p:spPr>
          <a:xfrm>
            <a:off x="896112" y="1600200"/>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프로젝트 개요</a:t>
            </a:r>
            <a:endParaRPr lang="en-US" sz="1400" dirty="0"/>
          </a:p>
        </p:txBody>
      </p:sp>
      <p:sp>
        <p:nvSpPr>
          <p:cNvPr id="12" name="Text 10"/>
          <p:cNvSpPr/>
          <p:nvPr/>
        </p:nvSpPr>
        <p:spPr>
          <a:xfrm>
            <a:off x="896112" y="1847088"/>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기획 배경 · 목표 · 개발 환경</a:t>
            </a:r>
            <a:endParaRPr lang="en-US" sz="1100" dirty="0"/>
          </a:p>
        </p:txBody>
      </p:sp>
      <p:sp>
        <p:nvSpPr>
          <p:cNvPr id="13" name="Shape 11"/>
          <p:cNvSpPr/>
          <p:nvPr/>
        </p:nvSpPr>
        <p:spPr>
          <a:xfrm>
            <a:off x="347472" y="2450592"/>
            <a:ext cx="457200" cy="457200"/>
          </a:xfrm>
          <a:prstGeom prst="rect">
            <a:avLst/>
          </a:prstGeom>
          <a:solidFill>
            <a:srgbClr val="1E3A5F"/>
          </a:solidFill>
          <a:ln w="12700">
            <a:solidFill>
              <a:srgbClr val="1E3A5F"/>
            </a:solidFill>
            <a:prstDash val="solid"/>
          </a:ln>
        </p:spPr>
      </p:sp>
      <p:sp>
        <p:nvSpPr>
          <p:cNvPr id="14" name="Text 12"/>
          <p:cNvSpPr/>
          <p:nvPr/>
        </p:nvSpPr>
        <p:spPr>
          <a:xfrm>
            <a:off x="347472" y="2450592"/>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03</a:t>
            </a:r>
            <a:endParaRPr lang="en-US" sz="1300" dirty="0"/>
          </a:p>
        </p:txBody>
      </p:sp>
      <p:sp>
        <p:nvSpPr>
          <p:cNvPr id="15" name="Text 13"/>
          <p:cNvSpPr/>
          <p:nvPr/>
        </p:nvSpPr>
        <p:spPr>
          <a:xfrm>
            <a:off x="896112" y="2450592"/>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시스템 아키텍처</a:t>
            </a:r>
            <a:endParaRPr lang="en-US" sz="1400" dirty="0"/>
          </a:p>
        </p:txBody>
      </p:sp>
      <p:sp>
        <p:nvSpPr>
          <p:cNvPr id="16" name="Text 14"/>
          <p:cNvSpPr/>
          <p:nvPr/>
        </p:nvSpPr>
        <p:spPr>
          <a:xfrm>
            <a:off x="896112" y="2697480"/>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기술 스택 및 시스템 구성도</a:t>
            </a:r>
            <a:endParaRPr lang="en-US" sz="1100" dirty="0"/>
          </a:p>
        </p:txBody>
      </p:sp>
      <p:sp>
        <p:nvSpPr>
          <p:cNvPr id="17" name="Shape 15"/>
          <p:cNvSpPr/>
          <p:nvPr/>
        </p:nvSpPr>
        <p:spPr>
          <a:xfrm>
            <a:off x="347472" y="3300984"/>
            <a:ext cx="457200" cy="457200"/>
          </a:xfrm>
          <a:prstGeom prst="rect">
            <a:avLst/>
          </a:prstGeom>
          <a:solidFill>
            <a:srgbClr val="1E3A5F"/>
          </a:solidFill>
          <a:ln w="12700">
            <a:solidFill>
              <a:srgbClr val="1E3A5F"/>
            </a:solidFill>
            <a:prstDash val="solid"/>
          </a:ln>
        </p:spPr>
      </p:sp>
      <p:sp>
        <p:nvSpPr>
          <p:cNvPr id="18" name="Text 16"/>
          <p:cNvSpPr/>
          <p:nvPr/>
        </p:nvSpPr>
        <p:spPr>
          <a:xfrm>
            <a:off x="347472" y="3300984"/>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04</a:t>
            </a:r>
            <a:endParaRPr lang="en-US" sz="1300" dirty="0"/>
          </a:p>
        </p:txBody>
      </p:sp>
      <p:sp>
        <p:nvSpPr>
          <p:cNvPr id="19" name="Text 17"/>
          <p:cNvSpPr/>
          <p:nvPr/>
        </p:nvSpPr>
        <p:spPr>
          <a:xfrm>
            <a:off x="896112" y="3300984"/>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주요 구현 기능</a:t>
            </a:r>
            <a:endParaRPr lang="en-US" sz="1400" dirty="0"/>
          </a:p>
        </p:txBody>
      </p:sp>
      <p:sp>
        <p:nvSpPr>
          <p:cNvPr id="20" name="Text 18"/>
          <p:cNvSpPr/>
          <p:nvPr/>
        </p:nvSpPr>
        <p:spPr>
          <a:xfrm>
            <a:off x="896112" y="3547872"/>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사용자 / 관리자 핵심 기능</a:t>
            </a:r>
            <a:endParaRPr lang="en-US" sz="1100" dirty="0"/>
          </a:p>
        </p:txBody>
      </p:sp>
      <p:sp>
        <p:nvSpPr>
          <p:cNvPr id="21" name="Shape 19"/>
          <p:cNvSpPr/>
          <p:nvPr/>
        </p:nvSpPr>
        <p:spPr>
          <a:xfrm>
            <a:off x="347472" y="4151376"/>
            <a:ext cx="457200" cy="457200"/>
          </a:xfrm>
          <a:prstGeom prst="rect">
            <a:avLst/>
          </a:prstGeom>
          <a:solidFill>
            <a:srgbClr val="1E3A5F"/>
          </a:solidFill>
          <a:ln w="12700">
            <a:solidFill>
              <a:srgbClr val="1E3A5F"/>
            </a:solidFill>
            <a:prstDash val="solid"/>
          </a:ln>
        </p:spPr>
      </p:sp>
      <p:sp>
        <p:nvSpPr>
          <p:cNvPr id="22" name="Text 20"/>
          <p:cNvSpPr/>
          <p:nvPr/>
        </p:nvSpPr>
        <p:spPr>
          <a:xfrm>
            <a:off x="347472" y="4151376"/>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05</a:t>
            </a:r>
            <a:endParaRPr lang="en-US" sz="1300" dirty="0"/>
          </a:p>
        </p:txBody>
      </p:sp>
      <p:sp>
        <p:nvSpPr>
          <p:cNvPr id="23" name="Text 21"/>
          <p:cNvSpPr/>
          <p:nvPr/>
        </p:nvSpPr>
        <p:spPr>
          <a:xfrm>
            <a:off x="896112" y="4151376"/>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서비스 흐름 설계</a:t>
            </a:r>
            <a:endParaRPr lang="en-US" sz="1400" dirty="0"/>
          </a:p>
        </p:txBody>
      </p:sp>
      <p:sp>
        <p:nvSpPr>
          <p:cNvPr id="24" name="Text 22"/>
          <p:cNvSpPr/>
          <p:nvPr/>
        </p:nvSpPr>
        <p:spPr>
          <a:xfrm>
            <a:off x="896112" y="4398264"/>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주문 · 배송 · 환불 상태 흐름</a:t>
            </a:r>
            <a:endParaRPr lang="en-US" sz="1100" dirty="0"/>
          </a:p>
        </p:txBody>
      </p:sp>
      <p:sp>
        <p:nvSpPr>
          <p:cNvPr id="25" name="Shape 23"/>
          <p:cNvSpPr/>
          <p:nvPr/>
        </p:nvSpPr>
        <p:spPr>
          <a:xfrm>
            <a:off x="4709160" y="749808"/>
            <a:ext cx="457200" cy="457200"/>
          </a:xfrm>
          <a:prstGeom prst="rect">
            <a:avLst/>
          </a:prstGeom>
          <a:solidFill>
            <a:srgbClr val="1E3A5F"/>
          </a:solidFill>
          <a:ln w="12700">
            <a:solidFill>
              <a:srgbClr val="1E3A5F"/>
            </a:solidFill>
            <a:prstDash val="solid"/>
          </a:ln>
        </p:spPr>
      </p:sp>
      <p:sp>
        <p:nvSpPr>
          <p:cNvPr id="26" name="Text 24"/>
          <p:cNvSpPr/>
          <p:nvPr/>
        </p:nvSpPr>
        <p:spPr>
          <a:xfrm>
            <a:off x="4709160" y="749808"/>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06</a:t>
            </a:r>
            <a:endParaRPr lang="en-US" sz="1300" dirty="0"/>
          </a:p>
        </p:txBody>
      </p:sp>
      <p:sp>
        <p:nvSpPr>
          <p:cNvPr id="27" name="Text 25"/>
          <p:cNvSpPr/>
          <p:nvPr/>
        </p:nvSpPr>
        <p:spPr>
          <a:xfrm>
            <a:off x="5257800" y="749808"/>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결제 시스템</a:t>
            </a:r>
            <a:endParaRPr lang="en-US" sz="1400" dirty="0"/>
          </a:p>
        </p:txBody>
      </p:sp>
      <p:sp>
        <p:nvSpPr>
          <p:cNvPr id="28" name="Text 26"/>
          <p:cNvSpPr/>
          <p:nvPr/>
        </p:nvSpPr>
        <p:spPr>
          <a:xfrm>
            <a:off x="5257800" y="996696"/>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4종 결제수단 구현 현황</a:t>
            </a:r>
            <a:endParaRPr lang="en-US" sz="1100" dirty="0"/>
          </a:p>
        </p:txBody>
      </p:sp>
      <p:sp>
        <p:nvSpPr>
          <p:cNvPr id="29" name="Shape 27"/>
          <p:cNvSpPr/>
          <p:nvPr/>
        </p:nvSpPr>
        <p:spPr>
          <a:xfrm>
            <a:off x="4709160" y="1600200"/>
            <a:ext cx="457200" cy="457200"/>
          </a:xfrm>
          <a:prstGeom prst="rect">
            <a:avLst/>
          </a:prstGeom>
          <a:solidFill>
            <a:srgbClr val="1E3A5F"/>
          </a:solidFill>
          <a:ln w="12700">
            <a:solidFill>
              <a:srgbClr val="1E3A5F"/>
            </a:solidFill>
            <a:prstDash val="solid"/>
          </a:ln>
        </p:spPr>
      </p:sp>
      <p:sp>
        <p:nvSpPr>
          <p:cNvPr id="30" name="Text 28"/>
          <p:cNvSpPr/>
          <p:nvPr/>
        </p:nvSpPr>
        <p:spPr>
          <a:xfrm>
            <a:off x="4709160" y="1600200"/>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07</a:t>
            </a:r>
            <a:endParaRPr lang="en-US" sz="1300" dirty="0"/>
          </a:p>
        </p:txBody>
      </p:sp>
      <p:sp>
        <p:nvSpPr>
          <p:cNvPr id="31" name="Text 29"/>
          <p:cNvSpPr/>
          <p:nvPr/>
        </p:nvSpPr>
        <p:spPr>
          <a:xfrm>
            <a:off x="5257800" y="1600200"/>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시연 계획</a:t>
            </a:r>
            <a:endParaRPr lang="en-US" sz="1400" dirty="0"/>
          </a:p>
        </p:txBody>
      </p:sp>
      <p:sp>
        <p:nvSpPr>
          <p:cNvPr id="32" name="Text 30"/>
          <p:cNvSpPr/>
          <p:nvPr/>
        </p:nvSpPr>
        <p:spPr>
          <a:xfrm>
            <a:off x="5257800" y="1847088"/>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4개 시나리오 순서</a:t>
            </a:r>
            <a:endParaRPr lang="en-US" sz="1100" dirty="0"/>
          </a:p>
        </p:txBody>
      </p:sp>
      <p:sp>
        <p:nvSpPr>
          <p:cNvPr id="33" name="Shape 31"/>
          <p:cNvSpPr/>
          <p:nvPr/>
        </p:nvSpPr>
        <p:spPr>
          <a:xfrm>
            <a:off x="4709160" y="2450592"/>
            <a:ext cx="457200" cy="457200"/>
          </a:xfrm>
          <a:prstGeom prst="rect">
            <a:avLst/>
          </a:prstGeom>
          <a:solidFill>
            <a:srgbClr val="1E3A5F"/>
          </a:solidFill>
          <a:ln w="12700">
            <a:solidFill>
              <a:srgbClr val="1E3A5F"/>
            </a:solidFill>
            <a:prstDash val="solid"/>
          </a:ln>
        </p:spPr>
      </p:sp>
      <p:sp>
        <p:nvSpPr>
          <p:cNvPr id="34" name="Text 32"/>
          <p:cNvSpPr/>
          <p:nvPr/>
        </p:nvSpPr>
        <p:spPr>
          <a:xfrm>
            <a:off x="4709160" y="2450592"/>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08</a:t>
            </a:r>
            <a:endParaRPr lang="en-US" sz="1300" dirty="0"/>
          </a:p>
        </p:txBody>
      </p:sp>
      <p:sp>
        <p:nvSpPr>
          <p:cNvPr id="35" name="Text 33"/>
          <p:cNvSpPr/>
          <p:nvPr/>
        </p:nvSpPr>
        <p:spPr>
          <a:xfrm>
            <a:off x="5257800" y="2450592"/>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미구현 항목</a:t>
            </a:r>
            <a:endParaRPr lang="en-US" sz="1400" dirty="0"/>
          </a:p>
        </p:txBody>
      </p:sp>
      <p:sp>
        <p:nvSpPr>
          <p:cNvPr id="36" name="Text 34"/>
          <p:cNvSpPr/>
          <p:nvPr/>
        </p:nvSpPr>
        <p:spPr>
          <a:xfrm>
            <a:off x="5257800" y="2697480"/>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솔직한 현황 및 향후 계획</a:t>
            </a:r>
            <a:endParaRPr lang="en-US" sz="1100" dirty="0"/>
          </a:p>
        </p:txBody>
      </p:sp>
      <p:sp>
        <p:nvSpPr>
          <p:cNvPr id="37" name="Shape 35"/>
          <p:cNvSpPr/>
          <p:nvPr/>
        </p:nvSpPr>
        <p:spPr>
          <a:xfrm>
            <a:off x="4709160" y="3300984"/>
            <a:ext cx="457200" cy="457200"/>
          </a:xfrm>
          <a:prstGeom prst="rect">
            <a:avLst/>
          </a:prstGeom>
          <a:solidFill>
            <a:srgbClr val="1E3A5F"/>
          </a:solidFill>
          <a:ln w="12700">
            <a:solidFill>
              <a:srgbClr val="1E3A5F"/>
            </a:solidFill>
            <a:prstDash val="solid"/>
          </a:ln>
        </p:spPr>
      </p:sp>
      <p:sp>
        <p:nvSpPr>
          <p:cNvPr id="38" name="Text 36"/>
          <p:cNvSpPr/>
          <p:nvPr/>
        </p:nvSpPr>
        <p:spPr>
          <a:xfrm>
            <a:off x="4709160" y="3300984"/>
            <a:ext cx="457200" cy="457200"/>
          </a:xfrm>
          <a:prstGeom prst="rect">
            <a:avLst/>
          </a:prstGeom>
          <a:noFill/>
          <a:ln/>
        </p:spPr>
        <p:txBody>
          <a:bodyPr wrap="square" lIns="0" tIns="0" rIns="0" bIns="0" rtlCol="0" anchor="ctr"/>
          <a:lstStyle/>
          <a:p>
            <a:pPr algn="ctr" indent="0" marL="0">
              <a:buNone/>
            </a:pPr>
            <a:r>
              <a:rPr lang="en-US" sz="1300" b="1" dirty="0">
                <a:solidFill>
                  <a:srgbClr val="C8A96E"/>
                </a:solidFill>
                <a:latin typeface="Arial Black" pitchFamily="34" charset="0"/>
                <a:ea typeface="Arial Black" pitchFamily="34" charset="-122"/>
                <a:cs typeface="Arial Black" pitchFamily="34" charset="-120"/>
              </a:rPr>
              <a:t>09</a:t>
            </a:r>
            <a:endParaRPr lang="en-US" sz="1300" dirty="0"/>
          </a:p>
        </p:txBody>
      </p:sp>
      <p:sp>
        <p:nvSpPr>
          <p:cNvPr id="39" name="Text 37"/>
          <p:cNvSpPr/>
          <p:nvPr/>
        </p:nvSpPr>
        <p:spPr>
          <a:xfrm>
            <a:off x="5257800" y="3300984"/>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예상 Q&amp;A</a:t>
            </a:r>
            <a:endParaRPr lang="en-US" sz="1400" dirty="0"/>
          </a:p>
        </p:txBody>
      </p:sp>
      <p:sp>
        <p:nvSpPr>
          <p:cNvPr id="40" name="Text 38"/>
          <p:cNvSpPr/>
          <p:nvPr/>
        </p:nvSpPr>
        <p:spPr>
          <a:xfrm>
            <a:off x="5257800" y="3547872"/>
            <a:ext cx="3840480" cy="20116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현직자 기준 예상 질문 &amp; 답변</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01  팀 소개</a:t>
            </a:r>
            <a:endParaRPr lang="en-US" sz="2100" dirty="0"/>
          </a:p>
        </p:txBody>
      </p:sp>
      <p:sp>
        <p:nvSpPr>
          <p:cNvPr id="5" name="Shape 3"/>
          <p:cNvSpPr/>
          <p:nvPr/>
        </p:nvSpPr>
        <p:spPr>
          <a:xfrm>
            <a:off x="347472" y="713232"/>
            <a:ext cx="8449056" cy="914400"/>
          </a:xfrm>
          <a:prstGeom prst="rect">
            <a:avLst/>
          </a:prstGeom>
          <a:solidFill>
            <a:srgbClr val="1E3A5F"/>
          </a:solidFill>
          <a:ln w="12700">
            <a:solidFill>
              <a:srgbClr val="1E3A5F"/>
            </a:solidFill>
            <a:prstDash val="solid"/>
          </a:ln>
          <a:effectLst>
            <a:outerShdw sx="100000" sy="100000" kx="0" ky="0" algn="bl" rotWithShape="0" blurRad="88900" dist="25400" dir="8100000">
              <a:srgbClr val="000000">
                <a:alpha val="13000"/>
              </a:srgbClr>
            </a:outerShdw>
          </a:effectLst>
        </p:spPr>
      </p:sp>
      <p:sp>
        <p:nvSpPr>
          <p:cNvPr id="6" name="Text 4"/>
          <p:cNvSpPr/>
          <p:nvPr/>
        </p:nvSpPr>
        <p:spPr>
          <a:xfrm>
            <a:off x="347472" y="713232"/>
            <a:ext cx="8449056" cy="914400"/>
          </a:xfrm>
          <a:prstGeom prst="rect">
            <a:avLst/>
          </a:prstGeom>
          <a:noFill/>
          <a:ln/>
        </p:spPr>
        <p:txBody>
          <a:bodyPr wrap="square" lIns="0" tIns="0" rIns="0" bIns="0" rtlCol="0" anchor="ctr"/>
          <a:lstStyle/>
          <a:p>
            <a:pPr algn="ctr" indent="0" marL="0">
              <a:buNone/>
            </a:pPr>
            <a:r>
              <a:rPr lang="en-US" sz="3000" b="1" dirty="0">
                <a:solidFill>
                  <a:srgbClr val="C8A96E"/>
                </a:solidFill>
                <a:latin typeface="Georgia" pitchFamily="34" charset="0"/>
                <a:ea typeface="Georgia" pitchFamily="34" charset="-122"/>
                <a:cs typeface="Georgia" pitchFamily="34" charset="-120"/>
              </a:rPr>
              <a:t>README </a:t>
            </a:r>
            <a:pPr algn="ctr" indent="0" marL="0">
              <a:buNone/>
            </a:pPr>
            <a:r>
              <a:rPr lang="en-US" sz="2600" b="1" dirty="0">
                <a:solidFill>
                  <a:srgbClr val="FFFFFF"/>
                </a:solidFill>
                <a:latin typeface="Georgia" pitchFamily="34" charset="0"/>
                <a:ea typeface="Georgia" pitchFamily="34" charset="-122"/>
                <a:cs typeface="Georgia" pitchFamily="34" charset="-120"/>
              </a:rPr>
              <a:t>팀</a:t>
            </a:r>
            <a:pPr algn="ctr" indent="0" marL="0">
              <a:buNone/>
            </a:pPr>
            <a:r>
              <a:rPr lang="en-US" sz="1500" dirty="0">
                <a:solidFill>
                  <a:srgbClr val="CADCFC"/>
                </a:solidFill>
                <a:latin typeface="Calibri" pitchFamily="34" charset="0"/>
                <a:ea typeface="Calibri" pitchFamily="34" charset="-122"/>
                <a:cs typeface="Calibri" pitchFamily="34" charset="-120"/>
              </a:rPr>
              <a:t>   —   온라인 서점 풀스택 개발 프로젝트</a:t>
            </a:r>
            <a:endParaRPr lang="en-US" sz="3000" dirty="0"/>
          </a:p>
        </p:txBody>
      </p:sp>
      <p:sp>
        <p:nvSpPr>
          <p:cNvPr id="7" name="Shape 5"/>
          <p:cNvSpPr/>
          <p:nvPr/>
        </p:nvSpPr>
        <p:spPr>
          <a:xfrm>
            <a:off x="347472" y="1783080"/>
            <a:ext cx="2011680" cy="315468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8" name="Shape 6"/>
          <p:cNvSpPr/>
          <p:nvPr/>
        </p:nvSpPr>
        <p:spPr>
          <a:xfrm>
            <a:off x="347472" y="1783080"/>
            <a:ext cx="2011680" cy="91440"/>
          </a:xfrm>
          <a:prstGeom prst="rect">
            <a:avLst/>
          </a:prstGeom>
          <a:solidFill>
            <a:srgbClr val="C8A96E"/>
          </a:solidFill>
          <a:ln w="12700">
            <a:solidFill>
              <a:srgbClr val="C8A96E"/>
            </a:solidFill>
            <a:prstDash val="solid"/>
          </a:ln>
        </p:spPr>
      </p:sp>
      <p:sp>
        <p:nvSpPr>
          <p:cNvPr id="9" name="Shape 7"/>
          <p:cNvSpPr/>
          <p:nvPr/>
        </p:nvSpPr>
        <p:spPr>
          <a:xfrm>
            <a:off x="457200" y="1938528"/>
            <a:ext cx="1792224" cy="384048"/>
          </a:xfrm>
          <a:prstGeom prst="rect">
            <a:avLst/>
          </a:prstGeom>
          <a:solidFill>
            <a:srgbClr val="1E3A5F"/>
          </a:solidFill>
          <a:ln w="12700">
            <a:solidFill>
              <a:srgbClr val="1E3A5F"/>
            </a:solidFill>
            <a:prstDash val="solid"/>
          </a:ln>
        </p:spPr>
      </p:sp>
      <p:sp>
        <p:nvSpPr>
          <p:cNvPr id="10" name="Text 8"/>
          <p:cNvSpPr/>
          <p:nvPr/>
        </p:nvSpPr>
        <p:spPr>
          <a:xfrm>
            <a:off x="457200" y="1938528"/>
            <a:ext cx="1792224"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PM / DB 설계</a:t>
            </a:r>
            <a:endParaRPr lang="en-US" sz="1150" dirty="0"/>
          </a:p>
        </p:txBody>
      </p:sp>
      <p:sp>
        <p:nvSpPr>
          <p:cNvPr id="11" name="Text 9"/>
          <p:cNvSpPr/>
          <p:nvPr/>
        </p:nvSpPr>
        <p:spPr>
          <a:xfrm>
            <a:off x="347472" y="2423160"/>
            <a:ext cx="2011680" cy="594360"/>
          </a:xfrm>
          <a:prstGeom prst="rect">
            <a:avLst/>
          </a:prstGeom>
          <a:noFill/>
          <a:ln/>
        </p:spPr>
        <p:txBody>
          <a:bodyPr wrap="square" lIns="0" tIns="0" rIns="0" bIns="0" rtlCol="0" anchor="ctr"/>
          <a:lstStyle/>
          <a:p>
            <a:pPr algn="ctr" indent="0" marL="0">
              <a:buNone/>
            </a:pPr>
            <a:r>
              <a:rPr lang="en-US" sz="1900" b="1" dirty="0">
                <a:solidFill>
                  <a:srgbClr val="2C2C2C"/>
                </a:solidFill>
                <a:latin typeface="Georgia" pitchFamily="34" charset="0"/>
                <a:ea typeface="Georgia" pitchFamily="34" charset="-122"/>
                <a:cs typeface="Georgia" pitchFamily="34" charset="-120"/>
              </a:rPr>
              <a:t>박 주 환</a:t>
            </a:r>
            <a:endParaRPr lang="en-US" sz="1900" dirty="0"/>
          </a:p>
        </p:txBody>
      </p:sp>
      <p:sp>
        <p:nvSpPr>
          <p:cNvPr id="12" name="Text 10"/>
          <p:cNvSpPr/>
          <p:nvPr/>
        </p:nvSpPr>
        <p:spPr>
          <a:xfrm>
            <a:off x="457200" y="3063240"/>
            <a:ext cx="1792224" cy="17373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프로젝트 총괄 관리</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DB 설계 · 구축</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요구사항 정의서</a:t>
            </a:r>
            <a:endParaRPr lang="en-US" sz="1200" dirty="0"/>
          </a:p>
        </p:txBody>
      </p:sp>
      <p:sp>
        <p:nvSpPr>
          <p:cNvPr id="13" name="Shape 11"/>
          <p:cNvSpPr/>
          <p:nvPr/>
        </p:nvSpPr>
        <p:spPr>
          <a:xfrm>
            <a:off x="2514600" y="1783080"/>
            <a:ext cx="2011680" cy="315468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4" name="Shape 12"/>
          <p:cNvSpPr/>
          <p:nvPr/>
        </p:nvSpPr>
        <p:spPr>
          <a:xfrm>
            <a:off x="2514600" y="1783080"/>
            <a:ext cx="2011680" cy="91440"/>
          </a:xfrm>
          <a:prstGeom prst="rect">
            <a:avLst/>
          </a:prstGeom>
          <a:solidFill>
            <a:srgbClr val="C8A96E"/>
          </a:solidFill>
          <a:ln w="12700">
            <a:solidFill>
              <a:srgbClr val="C8A96E"/>
            </a:solidFill>
            <a:prstDash val="solid"/>
          </a:ln>
        </p:spPr>
      </p:sp>
      <p:sp>
        <p:nvSpPr>
          <p:cNvPr id="15" name="Shape 13"/>
          <p:cNvSpPr/>
          <p:nvPr/>
        </p:nvSpPr>
        <p:spPr>
          <a:xfrm>
            <a:off x="2624328" y="1938528"/>
            <a:ext cx="1792224" cy="384048"/>
          </a:xfrm>
          <a:prstGeom prst="rect">
            <a:avLst/>
          </a:prstGeom>
          <a:solidFill>
            <a:srgbClr val="1E3A5F"/>
          </a:solidFill>
          <a:ln w="12700">
            <a:solidFill>
              <a:srgbClr val="1E3A5F"/>
            </a:solidFill>
            <a:prstDash val="solid"/>
          </a:ln>
        </p:spPr>
      </p:sp>
      <p:sp>
        <p:nvSpPr>
          <p:cNvPr id="16" name="Text 14"/>
          <p:cNvSpPr/>
          <p:nvPr/>
        </p:nvSpPr>
        <p:spPr>
          <a:xfrm>
            <a:off x="2624328" y="1938528"/>
            <a:ext cx="1792224"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백엔드 개발</a:t>
            </a:r>
            <a:endParaRPr lang="en-US" sz="1150" dirty="0"/>
          </a:p>
        </p:txBody>
      </p:sp>
      <p:sp>
        <p:nvSpPr>
          <p:cNvPr id="17" name="Text 15"/>
          <p:cNvSpPr/>
          <p:nvPr/>
        </p:nvSpPr>
        <p:spPr>
          <a:xfrm>
            <a:off x="2514600" y="2423160"/>
            <a:ext cx="2011680" cy="594360"/>
          </a:xfrm>
          <a:prstGeom prst="rect">
            <a:avLst/>
          </a:prstGeom>
          <a:noFill/>
          <a:ln/>
        </p:spPr>
        <p:txBody>
          <a:bodyPr wrap="square" lIns="0" tIns="0" rIns="0" bIns="0" rtlCol="0" anchor="ctr"/>
          <a:lstStyle/>
          <a:p>
            <a:pPr algn="ctr" indent="0" marL="0">
              <a:buNone/>
            </a:pPr>
            <a:r>
              <a:rPr lang="en-US" sz="1900" b="1" dirty="0">
                <a:solidFill>
                  <a:srgbClr val="2C2C2C"/>
                </a:solidFill>
                <a:latin typeface="Georgia" pitchFamily="34" charset="0"/>
                <a:ea typeface="Georgia" pitchFamily="34" charset="-122"/>
                <a:cs typeface="Georgia" pitchFamily="34" charset="-120"/>
              </a:rPr>
              <a:t>[팀원명]</a:t>
            </a:r>
            <a:endParaRPr lang="en-US" sz="1900" dirty="0"/>
          </a:p>
        </p:txBody>
      </p:sp>
      <p:sp>
        <p:nvSpPr>
          <p:cNvPr id="18" name="Text 16"/>
          <p:cNvSpPr/>
          <p:nvPr/>
        </p:nvSpPr>
        <p:spPr>
          <a:xfrm>
            <a:off x="2624328" y="3063240"/>
            <a:ext cx="1792224" cy="17373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Spring Boot API</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Spring Security</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비즈니스 로직</a:t>
            </a:r>
            <a:endParaRPr lang="en-US" sz="1200" dirty="0"/>
          </a:p>
        </p:txBody>
      </p:sp>
      <p:sp>
        <p:nvSpPr>
          <p:cNvPr id="19" name="Shape 17"/>
          <p:cNvSpPr/>
          <p:nvPr/>
        </p:nvSpPr>
        <p:spPr>
          <a:xfrm>
            <a:off x="4681728" y="1783080"/>
            <a:ext cx="2011680" cy="315468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20" name="Shape 18"/>
          <p:cNvSpPr/>
          <p:nvPr/>
        </p:nvSpPr>
        <p:spPr>
          <a:xfrm>
            <a:off x="4681728" y="1783080"/>
            <a:ext cx="2011680" cy="91440"/>
          </a:xfrm>
          <a:prstGeom prst="rect">
            <a:avLst/>
          </a:prstGeom>
          <a:solidFill>
            <a:srgbClr val="C8A96E"/>
          </a:solidFill>
          <a:ln w="12700">
            <a:solidFill>
              <a:srgbClr val="C8A96E"/>
            </a:solidFill>
            <a:prstDash val="solid"/>
          </a:ln>
        </p:spPr>
      </p:sp>
      <p:sp>
        <p:nvSpPr>
          <p:cNvPr id="21" name="Shape 19"/>
          <p:cNvSpPr/>
          <p:nvPr/>
        </p:nvSpPr>
        <p:spPr>
          <a:xfrm>
            <a:off x="4791456" y="1938528"/>
            <a:ext cx="1792224" cy="384048"/>
          </a:xfrm>
          <a:prstGeom prst="rect">
            <a:avLst/>
          </a:prstGeom>
          <a:solidFill>
            <a:srgbClr val="1E3A5F"/>
          </a:solidFill>
          <a:ln w="12700">
            <a:solidFill>
              <a:srgbClr val="1E3A5F"/>
            </a:solidFill>
            <a:prstDash val="solid"/>
          </a:ln>
        </p:spPr>
      </p:sp>
      <p:sp>
        <p:nvSpPr>
          <p:cNvPr id="22" name="Text 20"/>
          <p:cNvSpPr/>
          <p:nvPr/>
        </p:nvSpPr>
        <p:spPr>
          <a:xfrm>
            <a:off x="4791456" y="1938528"/>
            <a:ext cx="1792224"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백엔드 · 결제 개발</a:t>
            </a:r>
            <a:endParaRPr lang="en-US" sz="1150" dirty="0"/>
          </a:p>
        </p:txBody>
      </p:sp>
      <p:sp>
        <p:nvSpPr>
          <p:cNvPr id="23" name="Text 21"/>
          <p:cNvSpPr/>
          <p:nvPr/>
        </p:nvSpPr>
        <p:spPr>
          <a:xfrm>
            <a:off x="4681728" y="2423160"/>
            <a:ext cx="2011680" cy="594360"/>
          </a:xfrm>
          <a:prstGeom prst="rect">
            <a:avLst/>
          </a:prstGeom>
          <a:noFill/>
          <a:ln/>
        </p:spPr>
        <p:txBody>
          <a:bodyPr wrap="square" lIns="0" tIns="0" rIns="0" bIns="0" rtlCol="0" anchor="ctr"/>
          <a:lstStyle/>
          <a:p>
            <a:pPr algn="ctr" indent="0" marL="0">
              <a:buNone/>
            </a:pPr>
            <a:r>
              <a:rPr lang="en-US" sz="1900" b="1" dirty="0">
                <a:solidFill>
                  <a:srgbClr val="2C2C2C"/>
                </a:solidFill>
                <a:latin typeface="Georgia" pitchFamily="34" charset="0"/>
                <a:ea typeface="Georgia" pitchFamily="34" charset="-122"/>
                <a:cs typeface="Georgia" pitchFamily="34" charset="-120"/>
              </a:rPr>
              <a:t>[팀원명]</a:t>
            </a:r>
            <a:endParaRPr lang="en-US" sz="1900" dirty="0"/>
          </a:p>
        </p:txBody>
      </p:sp>
      <p:sp>
        <p:nvSpPr>
          <p:cNvPr id="24" name="Text 22"/>
          <p:cNvSpPr/>
          <p:nvPr/>
        </p:nvSpPr>
        <p:spPr>
          <a:xfrm>
            <a:off x="4791456" y="3063240"/>
            <a:ext cx="1792224" cy="17373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결제 시스템 연동</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주문 · 배송 로직</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REST API 설계</a:t>
            </a:r>
            <a:endParaRPr lang="en-US" sz="1200" dirty="0"/>
          </a:p>
        </p:txBody>
      </p:sp>
      <p:sp>
        <p:nvSpPr>
          <p:cNvPr id="25" name="Shape 23"/>
          <p:cNvSpPr/>
          <p:nvPr/>
        </p:nvSpPr>
        <p:spPr>
          <a:xfrm>
            <a:off x="6848856" y="1783080"/>
            <a:ext cx="2011680" cy="315468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26" name="Shape 24"/>
          <p:cNvSpPr/>
          <p:nvPr/>
        </p:nvSpPr>
        <p:spPr>
          <a:xfrm>
            <a:off x="6848856" y="1783080"/>
            <a:ext cx="2011680" cy="91440"/>
          </a:xfrm>
          <a:prstGeom prst="rect">
            <a:avLst/>
          </a:prstGeom>
          <a:solidFill>
            <a:srgbClr val="C8A96E"/>
          </a:solidFill>
          <a:ln w="12700">
            <a:solidFill>
              <a:srgbClr val="C8A96E"/>
            </a:solidFill>
            <a:prstDash val="solid"/>
          </a:ln>
        </p:spPr>
      </p:sp>
      <p:sp>
        <p:nvSpPr>
          <p:cNvPr id="27" name="Shape 25"/>
          <p:cNvSpPr/>
          <p:nvPr/>
        </p:nvSpPr>
        <p:spPr>
          <a:xfrm>
            <a:off x="6958584" y="1938528"/>
            <a:ext cx="1792224" cy="384048"/>
          </a:xfrm>
          <a:prstGeom prst="rect">
            <a:avLst/>
          </a:prstGeom>
          <a:solidFill>
            <a:srgbClr val="1E3A5F"/>
          </a:solidFill>
          <a:ln w="12700">
            <a:solidFill>
              <a:srgbClr val="1E3A5F"/>
            </a:solidFill>
            <a:prstDash val="solid"/>
          </a:ln>
        </p:spPr>
      </p:sp>
      <p:sp>
        <p:nvSpPr>
          <p:cNvPr id="28" name="Text 26"/>
          <p:cNvSpPr/>
          <p:nvPr/>
        </p:nvSpPr>
        <p:spPr>
          <a:xfrm>
            <a:off x="6958584" y="1938528"/>
            <a:ext cx="1792224"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프론트엔드 개발</a:t>
            </a:r>
            <a:endParaRPr lang="en-US" sz="1150" dirty="0"/>
          </a:p>
        </p:txBody>
      </p:sp>
      <p:sp>
        <p:nvSpPr>
          <p:cNvPr id="29" name="Text 27"/>
          <p:cNvSpPr/>
          <p:nvPr/>
        </p:nvSpPr>
        <p:spPr>
          <a:xfrm>
            <a:off x="6848856" y="2423160"/>
            <a:ext cx="2011680" cy="594360"/>
          </a:xfrm>
          <a:prstGeom prst="rect">
            <a:avLst/>
          </a:prstGeom>
          <a:noFill/>
          <a:ln/>
        </p:spPr>
        <p:txBody>
          <a:bodyPr wrap="square" lIns="0" tIns="0" rIns="0" bIns="0" rtlCol="0" anchor="ctr"/>
          <a:lstStyle/>
          <a:p>
            <a:pPr algn="ctr" indent="0" marL="0">
              <a:buNone/>
            </a:pPr>
            <a:r>
              <a:rPr lang="en-US" sz="1900" b="1" dirty="0">
                <a:solidFill>
                  <a:srgbClr val="2C2C2C"/>
                </a:solidFill>
                <a:latin typeface="Georgia" pitchFamily="34" charset="0"/>
                <a:ea typeface="Georgia" pitchFamily="34" charset="-122"/>
                <a:cs typeface="Georgia" pitchFamily="34" charset="-120"/>
              </a:rPr>
              <a:t>[팀원명]</a:t>
            </a:r>
            <a:endParaRPr lang="en-US" sz="1900" dirty="0"/>
          </a:p>
        </p:txBody>
      </p:sp>
      <p:sp>
        <p:nvSpPr>
          <p:cNvPr id="30" name="Text 28"/>
          <p:cNvSpPr/>
          <p:nvPr/>
        </p:nvSpPr>
        <p:spPr>
          <a:xfrm>
            <a:off x="6958584" y="3063240"/>
            <a:ext cx="1792224" cy="17373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Vue.js 3 화면 구현</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UI/UX 컴포넌트</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Pinia · Vue Router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02  프로젝트 개요</a:t>
            </a:r>
            <a:endParaRPr lang="en-US" sz="2100" dirty="0"/>
          </a:p>
        </p:txBody>
      </p:sp>
      <p:sp>
        <p:nvSpPr>
          <p:cNvPr id="5" name="Shape 3"/>
          <p:cNvSpPr/>
          <p:nvPr/>
        </p:nvSpPr>
        <p:spPr>
          <a:xfrm>
            <a:off x="347472" y="694944"/>
            <a:ext cx="8449056" cy="548640"/>
          </a:xfrm>
          <a:prstGeom prst="rect">
            <a:avLst/>
          </a:prstGeom>
          <a:solidFill>
            <a:srgbClr val="F5EDDB"/>
          </a:solidFill>
          <a:ln w="12700">
            <a:solidFill>
              <a:srgbClr val="C8A96E"/>
            </a:solidFill>
            <a:prstDash val="solid"/>
          </a:ln>
        </p:spPr>
      </p:sp>
      <p:sp>
        <p:nvSpPr>
          <p:cNvPr id="6" name="Text 4"/>
          <p:cNvSpPr/>
          <p:nvPr/>
        </p:nvSpPr>
        <p:spPr>
          <a:xfrm>
            <a:off x="347472" y="694944"/>
            <a:ext cx="8449056" cy="548640"/>
          </a:xfrm>
          <a:prstGeom prst="rect">
            <a:avLst/>
          </a:prstGeom>
          <a:noFill/>
          <a:ln/>
        </p:spPr>
        <p:txBody>
          <a:bodyPr wrap="square" lIns="0" tIns="15240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프로젝트명 : </a:t>
            </a:r>
            <a:pPr indent="0" marL="0">
              <a:buNone/>
            </a:pPr>
            <a:r>
              <a:rPr lang="en-US" sz="1400" dirty="0">
                <a:solidFill>
                  <a:srgbClr val="2C2C2C"/>
                </a:solidFill>
                <a:latin typeface="Calibri" pitchFamily="34" charset="0"/>
                <a:ea typeface="Calibri" pitchFamily="34" charset="-122"/>
                <a:cs typeface="Calibri" pitchFamily="34" charset="-120"/>
              </a:rPr>
              <a:t>ReadMe — 교보문고 스타일 온라인 서점 쇼핑몰 시스템  </a:t>
            </a:r>
            <a:pPr indent="0" marL="0">
              <a:buNone/>
            </a:pPr>
            <a:r>
              <a:rPr lang="en-US" sz="1400" b="1" dirty="0">
                <a:solidFill>
                  <a:srgbClr val="6B7280"/>
                </a:solidFill>
                <a:latin typeface="Calibri" pitchFamily="34" charset="0"/>
                <a:ea typeface="Calibri" pitchFamily="34" charset="-122"/>
                <a:cs typeface="Calibri" pitchFamily="34" charset="-120"/>
              </a:rPr>
              <a:t>  ver. 3.5.11</a:t>
            </a:r>
            <a:endParaRPr lang="en-US" sz="1400" dirty="0"/>
          </a:p>
        </p:txBody>
      </p:sp>
      <p:sp>
        <p:nvSpPr>
          <p:cNvPr id="7" name="Shape 5"/>
          <p:cNvSpPr/>
          <p:nvPr/>
        </p:nvSpPr>
        <p:spPr>
          <a:xfrm>
            <a:off x="347472" y="1389888"/>
            <a:ext cx="2697480" cy="3547872"/>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8" name="Shape 6"/>
          <p:cNvSpPr/>
          <p:nvPr/>
        </p:nvSpPr>
        <p:spPr>
          <a:xfrm>
            <a:off x="347472" y="1389888"/>
            <a:ext cx="2697480" cy="475488"/>
          </a:xfrm>
          <a:prstGeom prst="rect">
            <a:avLst/>
          </a:prstGeom>
          <a:solidFill>
            <a:srgbClr val="1E3A5F"/>
          </a:solidFill>
          <a:ln w="12700">
            <a:solidFill>
              <a:srgbClr val="1E3A5F"/>
            </a:solidFill>
            <a:prstDash val="solid"/>
          </a:ln>
        </p:spPr>
      </p:sp>
      <p:sp>
        <p:nvSpPr>
          <p:cNvPr id="9" name="Text 7"/>
          <p:cNvSpPr/>
          <p:nvPr/>
        </p:nvSpPr>
        <p:spPr>
          <a:xfrm>
            <a:off x="347472" y="1389888"/>
            <a:ext cx="269748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기획 배경</a:t>
            </a:r>
            <a:endParaRPr lang="en-US" sz="1400" dirty="0"/>
          </a:p>
        </p:txBody>
      </p:sp>
      <p:sp>
        <p:nvSpPr>
          <p:cNvPr id="10" name="Text 8"/>
          <p:cNvSpPr/>
          <p:nvPr/>
        </p:nvSpPr>
        <p:spPr>
          <a:xfrm>
            <a:off x="457200" y="1938528"/>
            <a:ext cx="2478024" cy="2880360"/>
          </a:xfrm>
          <a:prstGeom prst="rect">
            <a:avLst/>
          </a:prstGeom>
          <a:noFill/>
          <a:ln/>
        </p:spPr>
        <p:txBody>
          <a:bodyPr wrap="square" lIns="0" tIns="0" rIns="0" bIns="0" rtlCol="0" anchor="t"/>
          <a:lstStyle/>
          <a:p>
            <a:pPr indent="0" marL="0">
              <a:buNone/>
            </a:pPr>
            <a:r>
              <a:rPr lang="en-US" sz="1250" dirty="0">
                <a:solidFill>
                  <a:srgbClr val="2C2C2C"/>
                </a:solidFill>
                <a:latin typeface="Calibri" pitchFamily="34" charset="0"/>
                <a:ea typeface="Calibri" pitchFamily="34" charset="-122"/>
                <a:cs typeface="Calibri" pitchFamily="34" charset="-120"/>
              </a:rPr>
              <a:t>교육 과정에서 학습한 Spring Boot와 Vue.js를 실제 프로젝트에 적용하여, 도서 탐색 → 장바구니 → 주문 → 결제 → 배송 → 마이페이지로 이어지는 이커머스 전체 흐름을 직접 구현하고 실무 감각을 익히는 것을 목표로 삼았습니다.</a:t>
            </a:r>
            <a:endParaRPr lang="en-US" sz="1250" dirty="0"/>
          </a:p>
        </p:txBody>
      </p:sp>
      <p:sp>
        <p:nvSpPr>
          <p:cNvPr id="11" name="Shape 9"/>
          <p:cNvSpPr/>
          <p:nvPr/>
        </p:nvSpPr>
        <p:spPr>
          <a:xfrm>
            <a:off x="3209544" y="1389888"/>
            <a:ext cx="2697480" cy="3547872"/>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2" name="Shape 10"/>
          <p:cNvSpPr/>
          <p:nvPr/>
        </p:nvSpPr>
        <p:spPr>
          <a:xfrm>
            <a:off x="3209544" y="1389888"/>
            <a:ext cx="2697480" cy="475488"/>
          </a:xfrm>
          <a:prstGeom prst="rect">
            <a:avLst/>
          </a:prstGeom>
          <a:solidFill>
            <a:srgbClr val="1D6A96"/>
          </a:solidFill>
          <a:ln w="12700">
            <a:solidFill>
              <a:srgbClr val="1D6A96"/>
            </a:solidFill>
            <a:prstDash val="solid"/>
          </a:ln>
        </p:spPr>
      </p:sp>
      <p:sp>
        <p:nvSpPr>
          <p:cNvPr id="13" name="Text 11"/>
          <p:cNvSpPr/>
          <p:nvPr/>
        </p:nvSpPr>
        <p:spPr>
          <a:xfrm>
            <a:off x="3209544" y="1389888"/>
            <a:ext cx="269748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개발 목표</a:t>
            </a:r>
            <a:endParaRPr lang="en-US" sz="1400" dirty="0"/>
          </a:p>
        </p:txBody>
      </p:sp>
      <p:sp>
        <p:nvSpPr>
          <p:cNvPr id="14" name="Text 12"/>
          <p:cNvSpPr/>
          <p:nvPr/>
        </p:nvSpPr>
        <p:spPr>
          <a:xfrm>
            <a:off x="3319272" y="1938528"/>
            <a:ext cx="2478024" cy="2880360"/>
          </a:xfrm>
          <a:prstGeom prst="rect">
            <a:avLst/>
          </a:prstGeom>
          <a:noFill/>
          <a:ln/>
        </p:spPr>
        <p:txBody>
          <a:bodyPr wrap="square" lIns="0" tIns="0" rIns="0" bIns="0" rtlCol="0" anchor="t"/>
          <a:lstStyle/>
          <a:p>
            <a:pPr indent="0" marL="0">
              <a:buNone/>
            </a:pPr>
            <a:r>
              <a:rPr lang="en-US" sz="1250" dirty="0">
                <a:solidFill>
                  <a:srgbClr val="2C2C2C"/>
                </a:solidFill>
                <a:latin typeface="Calibri" pitchFamily="34" charset="0"/>
                <a:ea typeface="Calibri" pitchFamily="34" charset="-122"/>
                <a:cs typeface="Calibri" pitchFamily="34" charset="-120"/>
              </a:rPr>
              <a:t>· Spring Boot 3.x + Vue.js 3 풀스택 구현</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 REST API 설계 및 Swagger 문서화</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 실결제 연동 (토스페이 · 카카오페이)</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 관리자 운영 시스템 분리 구현</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 실무형 주문·배송 상태 설계</a:t>
            </a:r>
            <a:endParaRPr lang="en-US" sz="1250" dirty="0"/>
          </a:p>
        </p:txBody>
      </p:sp>
      <p:sp>
        <p:nvSpPr>
          <p:cNvPr id="15" name="Shape 13"/>
          <p:cNvSpPr/>
          <p:nvPr/>
        </p:nvSpPr>
        <p:spPr>
          <a:xfrm>
            <a:off x="6071616" y="1389888"/>
            <a:ext cx="2697480" cy="3547872"/>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6" name="Shape 14"/>
          <p:cNvSpPr/>
          <p:nvPr/>
        </p:nvSpPr>
        <p:spPr>
          <a:xfrm>
            <a:off x="6071616" y="1389888"/>
            <a:ext cx="2697480" cy="475488"/>
          </a:xfrm>
          <a:prstGeom prst="rect">
            <a:avLst/>
          </a:prstGeom>
          <a:solidFill>
            <a:srgbClr val="2D6A4F"/>
          </a:solidFill>
          <a:ln w="12700">
            <a:solidFill>
              <a:srgbClr val="2D6A4F"/>
            </a:solidFill>
            <a:prstDash val="solid"/>
          </a:ln>
        </p:spPr>
      </p:sp>
      <p:sp>
        <p:nvSpPr>
          <p:cNvPr id="17" name="Text 15"/>
          <p:cNvSpPr/>
          <p:nvPr/>
        </p:nvSpPr>
        <p:spPr>
          <a:xfrm>
            <a:off x="6071616" y="1389888"/>
            <a:ext cx="269748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개발 기간 &amp; 환경</a:t>
            </a:r>
            <a:endParaRPr lang="en-US" sz="1400" dirty="0"/>
          </a:p>
        </p:txBody>
      </p:sp>
      <p:sp>
        <p:nvSpPr>
          <p:cNvPr id="18" name="Text 16"/>
          <p:cNvSpPr/>
          <p:nvPr/>
        </p:nvSpPr>
        <p:spPr>
          <a:xfrm>
            <a:off x="6181344" y="1938528"/>
            <a:ext cx="2478024" cy="2880360"/>
          </a:xfrm>
          <a:prstGeom prst="rect">
            <a:avLst/>
          </a:prstGeom>
          <a:noFill/>
          <a:ln/>
        </p:spPr>
        <p:txBody>
          <a:bodyPr wrap="square" lIns="0" tIns="0" rIns="0" bIns="0" rtlCol="0" anchor="t"/>
          <a:lstStyle/>
          <a:p>
            <a:pPr indent="0" marL="0">
              <a:buNone/>
            </a:pPr>
            <a:r>
              <a:rPr lang="en-US" sz="1250" dirty="0">
                <a:solidFill>
                  <a:srgbClr val="2C2C2C"/>
                </a:solidFill>
                <a:latin typeface="Calibri" pitchFamily="34" charset="0"/>
                <a:ea typeface="Calibri" pitchFamily="34" charset="-122"/>
                <a:cs typeface="Calibri" pitchFamily="34" charset="-120"/>
              </a:rPr>
              <a:t>기간 : 2026.03.13 ~ 2026.04.12 (약 1개월)</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팀명 : README</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PM : 박주환</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협업 : GitHub · Notion · Discord</a:t>
            </a:r>
            <a:endParaRPr lang="en-US" sz="1250" dirty="0"/>
          </a:p>
          <a:p>
            <a:pPr indent="0" marL="0">
              <a:buNone/>
            </a:pPr>
            <a:r>
              <a:rPr lang="en-US" sz="1250" dirty="0">
                <a:solidFill>
                  <a:srgbClr val="2C2C2C"/>
                </a:solidFill>
                <a:latin typeface="Calibri" pitchFamily="34" charset="0"/>
                <a:ea typeface="Calibri" pitchFamily="34" charset="-122"/>
                <a:cs typeface="Calibri" pitchFamily="34" charset="-120"/>
              </a:rPr>
              <a:t>버전관리 : Git (Branch 전략 적용)</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03  시스템 아키텍처</a:t>
            </a:r>
            <a:endParaRPr lang="en-US" sz="2100" dirty="0"/>
          </a:p>
        </p:txBody>
      </p:sp>
      <p:sp>
        <p:nvSpPr>
          <p:cNvPr id="5" name="Shape 3"/>
          <p:cNvSpPr/>
          <p:nvPr/>
        </p:nvSpPr>
        <p:spPr>
          <a:xfrm>
            <a:off x="274320" y="749808"/>
            <a:ext cx="2377440" cy="4251960"/>
          </a:xfrm>
          <a:prstGeom prst="rect">
            <a:avLst/>
          </a:prstGeom>
          <a:solidFill>
            <a:srgbClr val="EFF6FF"/>
          </a:solidFill>
          <a:ln w="19050">
            <a:solidFill>
              <a:srgbClr val="3B82F6"/>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274320" y="749808"/>
            <a:ext cx="2377440" cy="457200"/>
          </a:xfrm>
          <a:prstGeom prst="rect">
            <a:avLst/>
          </a:prstGeom>
          <a:solidFill>
            <a:srgbClr val="3B82F6"/>
          </a:solidFill>
          <a:ln w="12700">
            <a:solidFill>
              <a:srgbClr val="3B82F6"/>
            </a:solidFill>
            <a:prstDash val="solid"/>
          </a:ln>
        </p:spPr>
      </p:sp>
      <p:sp>
        <p:nvSpPr>
          <p:cNvPr id="7" name="Text 5"/>
          <p:cNvSpPr/>
          <p:nvPr/>
        </p:nvSpPr>
        <p:spPr>
          <a:xfrm>
            <a:off x="274320" y="749808"/>
            <a:ext cx="2377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8" name="Shape 6"/>
          <p:cNvSpPr/>
          <p:nvPr/>
        </p:nvSpPr>
        <p:spPr>
          <a:xfrm>
            <a:off x="411480" y="1325880"/>
            <a:ext cx="2103120" cy="612648"/>
          </a:xfrm>
          <a:prstGeom prst="rect">
            <a:avLst/>
          </a:prstGeom>
          <a:solidFill>
            <a:srgbClr val="FFFFFF"/>
          </a:solidFill>
          <a:ln w="6350">
            <a:solidFill>
              <a:srgbClr val="BFDBFE"/>
            </a:solidFill>
            <a:prstDash val="solid"/>
          </a:ln>
        </p:spPr>
      </p:sp>
      <p:sp>
        <p:nvSpPr>
          <p:cNvPr id="9" name="Text 7"/>
          <p:cNvSpPr/>
          <p:nvPr/>
        </p:nvSpPr>
        <p:spPr>
          <a:xfrm>
            <a:off x="411480" y="1325880"/>
            <a:ext cx="2103120" cy="612648"/>
          </a:xfrm>
          <a:prstGeom prst="rect">
            <a:avLst/>
          </a:prstGeom>
          <a:noFill/>
          <a:ln/>
        </p:spPr>
        <p:txBody>
          <a:bodyPr wrap="square" lIns="0" tIns="0" rIns="0" bIns="0" rtlCol="0" anchor="ctr"/>
          <a:lstStyle/>
          <a:p>
            <a:pPr algn="ctr" indent="0" marL="0">
              <a:buNone/>
            </a:pPr>
            <a:r>
              <a:rPr lang="en-US" sz="1200" dirty="0">
                <a:solidFill>
                  <a:srgbClr val="1D4ED8"/>
                </a:solidFill>
                <a:latin typeface="Calibri" pitchFamily="34" charset="0"/>
                <a:ea typeface="Calibri" pitchFamily="34" charset="-122"/>
                <a:cs typeface="Calibri" pitchFamily="34" charset="-120"/>
              </a:rPr>
              <a:t>Vue.js 3</a:t>
            </a:r>
            <a:endParaRPr lang="en-US" sz="1200" dirty="0"/>
          </a:p>
        </p:txBody>
      </p:sp>
      <p:sp>
        <p:nvSpPr>
          <p:cNvPr id="10" name="Shape 8"/>
          <p:cNvSpPr/>
          <p:nvPr/>
        </p:nvSpPr>
        <p:spPr>
          <a:xfrm>
            <a:off x="411480" y="2029968"/>
            <a:ext cx="2103120" cy="612648"/>
          </a:xfrm>
          <a:prstGeom prst="rect">
            <a:avLst/>
          </a:prstGeom>
          <a:solidFill>
            <a:srgbClr val="FFFFFF"/>
          </a:solidFill>
          <a:ln w="6350">
            <a:solidFill>
              <a:srgbClr val="BFDBFE"/>
            </a:solidFill>
            <a:prstDash val="solid"/>
          </a:ln>
        </p:spPr>
      </p:sp>
      <p:sp>
        <p:nvSpPr>
          <p:cNvPr id="11" name="Text 9"/>
          <p:cNvSpPr/>
          <p:nvPr/>
        </p:nvSpPr>
        <p:spPr>
          <a:xfrm>
            <a:off x="411480" y="2029968"/>
            <a:ext cx="2103120" cy="612648"/>
          </a:xfrm>
          <a:prstGeom prst="rect">
            <a:avLst/>
          </a:prstGeom>
          <a:noFill/>
          <a:ln/>
        </p:spPr>
        <p:txBody>
          <a:bodyPr wrap="square" lIns="0" tIns="0" rIns="0" bIns="0" rtlCol="0" anchor="ctr"/>
          <a:lstStyle/>
          <a:p>
            <a:pPr algn="ctr" indent="0" marL="0">
              <a:buNone/>
            </a:pPr>
            <a:r>
              <a:rPr lang="en-US" sz="1200" dirty="0">
                <a:solidFill>
                  <a:srgbClr val="1D4ED8"/>
                </a:solidFill>
                <a:latin typeface="Calibri" pitchFamily="34" charset="0"/>
                <a:ea typeface="Calibri" pitchFamily="34" charset="-122"/>
                <a:cs typeface="Calibri" pitchFamily="34" charset="-120"/>
              </a:rPr>
              <a:t>Pinia (상태관리)</a:t>
            </a:r>
            <a:endParaRPr lang="en-US" sz="1200" dirty="0"/>
          </a:p>
        </p:txBody>
      </p:sp>
      <p:sp>
        <p:nvSpPr>
          <p:cNvPr id="12" name="Shape 10"/>
          <p:cNvSpPr/>
          <p:nvPr/>
        </p:nvSpPr>
        <p:spPr>
          <a:xfrm>
            <a:off x="411480" y="2734056"/>
            <a:ext cx="2103120" cy="612648"/>
          </a:xfrm>
          <a:prstGeom prst="rect">
            <a:avLst/>
          </a:prstGeom>
          <a:solidFill>
            <a:srgbClr val="FFFFFF"/>
          </a:solidFill>
          <a:ln w="6350">
            <a:solidFill>
              <a:srgbClr val="BFDBFE"/>
            </a:solidFill>
            <a:prstDash val="solid"/>
          </a:ln>
        </p:spPr>
      </p:sp>
      <p:sp>
        <p:nvSpPr>
          <p:cNvPr id="13" name="Text 11"/>
          <p:cNvSpPr/>
          <p:nvPr/>
        </p:nvSpPr>
        <p:spPr>
          <a:xfrm>
            <a:off x="411480" y="2734056"/>
            <a:ext cx="2103120" cy="612648"/>
          </a:xfrm>
          <a:prstGeom prst="rect">
            <a:avLst/>
          </a:prstGeom>
          <a:noFill/>
          <a:ln/>
        </p:spPr>
        <p:txBody>
          <a:bodyPr wrap="square" lIns="0" tIns="0" rIns="0" bIns="0" rtlCol="0" anchor="ctr"/>
          <a:lstStyle/>
          <a:p>
            <a:pPr algn="ctr" indent="0" marL="0">
              <a:buNone/>
            </a:pPr>
            <a:r>
              <a:rPr lang="en-US" sz="1200" dirty="0">
                <a:solidFill>
                  <a:srgbClr val="1D4ED8"/>
                </a:solidFill>
                <a:latin typeface="Calibri" pitchFamily="34" charset="0"/>
                <a:ea typeface="Calibri" pitchFamily="34" charset="-122"/>
                <a:cs typeface="Calibri" pitchFamily="34" charset="-120"/>
              </a:rPr>
              <a:t>Vue Router</a:t>
            </a:r>
            <a:endParaRPr lang="en-US" sz="1200" dirty="0"/>
          </a:p>
        </p:txBody>
      </p:sp>
      <p:sp>
        <p:nvSpPr>
          <p:cNvPr id="14" name="Shape 12"/>
          <p:cNvSpPr/>
          <p:nvPr/>
        </p:nvSpPr>
        <p:spPr>
          <a:xfrm>
            <a:off x="411480" y="3438144"/>
            <a:ext cx="2103120" cy="612648"/>
          </a:xfrm>
          <a:prstGeom prst="rect">
            <a:avLst/>
          </a:prstGeom>
          <a:solidFill>
            <a:srgbClr val="FFFFFF"/>
          </a:solidFill>
          <a:ln w="6350">
            <a:solidFill>
              <a:srgbClr val="BFDBFE"/>
            </a:solidFill>
            <a:prstDash val="solid"/>
          </a:ln>
        </p:spPr>
      </p:sp>
      <p:sp>
        <p:nvSpPr>
          <p:cNvPr id="15" name="Text 13"/>
          <p:cNvSpPr/>
          <p:nvPr/>
        </p:nvSpPr>
        <p:spPr>
          <a:xfrm>
            <a:off x="411480" y="3438144"/>
            <a:ext cx="2103120" cy="612648"/>
          </a:xfrm>
          <a:prstGeom prst="rect">
            <a:avLst/>
          </a:prstGeom>
          <a:noFill/>
          <a:ln/>
        </p:spPr>
        <p:txBody>
          <a:bodyPr wrap="square" lIns="0" tIns="0" rIns="0" bIns="0" rtlCol="0" anchor="ctr"/>
          <a:lstStyle/>
          <a:p>
            <a:pPr algn="ctr" indent="0" marL="0">
              <a:buNone/>
            </a:pPr>
            <a:r>
              <a:rPr lang="en-US" sz="1200" dirty="0">
                <a:solidFill>
                  <a:srgbClr val="1D4ED8"/>
                </a:solidFill>
                <a:latin typeface="Calibri" pitchFamily="34" charset="0"/>
                <a:ea typeface="Calibri" pitchFamily="34" charset="-122"/>
                <a:cs typeface="Calibri" pitchFamily="34" charset="-120"/>
              </a:rPr>
              <a:t>Axios (HTTP)</a:t>
            </a:r>
            <a:endParaRPr lang="en-US" sz="1200" dirty="0"/>
          </a:p>
        </p:txBody>
      </p:sp>
      <p:sp>
        <p:nvSpPr>
          <p:cNvPr id="16" name="Shape 14"/>
          <p:cNvSpPr/>
          <p:nvPr/>
        </p:nvSpPr>
        <p:spPr>
          <a:xfrm>
            <a:off x="411480" y="4142232"/>
            <a:ext cx="2103120" cy="612648"/>
          </a:xfrm>
          <a:prstGeom prst="rect">
            <a:avLst/>
          </a:prstGeom>
          <a:solidFill>
            <a:srgbClr val="FFFFFF"/>
          </a:solidFill>
          <a:ln w="6350">
            <a:solidFill>
              <a:srgbClr val="BFDBFE"/>
            </a:solidFill>
            <a:prstDash val="solid"/>
          </a:ln>
        </p:spPr>
      </p:sp>
      <p:sp>
        <p:nvSpPr>
          <p:cNvPr id="17" name="Text 15"/>
          <p:cNvSpPr/>
          <p:nvPr/>
        </p:nvSpPr>
        <p:spPr>
          <a:xfrm>
            <a:off x="411480" y="4142232"/>
            <a:ext cx="2103120" cy="612648"/>
          </a:xfrm>
          <a:prstGeom prst="rect">
            <a:avLst/>
          </a:prstGeom>
          <a:noFill/>
          <a:ln/>
        </p:spPr>
        <p:txBody>
          <a:bodyPr wrap="square" lIns="0" tIns="0" rIns="0" bIns="0" rtlCol="0" anchor="ctr"/>
          <a:lstStyle/>
          <a:p>
            <a:pPr algn="ctr" indent="0" marL="0">
              <a:buNone/>
            </a:pPr>
            <a:r>
              <a:rPr lang="en-US" sz="1200" dirty="0">
                <a:solidFill>
                  <a:srgbClr val="1D4ED8"/>
                </a:solidFill>
                <a:latin typeface="Calibri" pitchFamily="34" charset="0"/>
                <a:ea typeface="Calibri" pitchFamily="34" charset="-122"/>
                <a:cs typeface="Calibri" pitchFamily="34" charset="-120"/>
              </a:rPr>
              <a:t>Tailwind CSS</a:t>
            </a:r>
            <a:endParaRPr lang="en-US" sz="1200" dirty="0"/>
          </a:p>
        </p:txBody>
      </p:sp>
      <p:sp>
        <p:nvSpPr>
          <p:cNvPr id="18" name="Shape 16"/>
          <p:cNvSpPr/>
          <p:nvPr/>
        </p:nvSpPr>
        <p:spPr>
          <a:xfrm>
            <a:off x="3337560" y="749808"/>
            <a:ext cx="2880360" cy="4251960"/>
          </a:xfrm>
          <a:prstGeom prst="rect">
            <a:avLst/>
          </a:prstGeom>
          <a:solidFill>
            <a:srgbClr val="F0FDF4"/>
          </a:solidFill>
          <a:ln w="19050">
            <a:solidFill>
              <a:srgbClr val="16A34A"/>
            </a:solidFill>
            <a:prstDash val="solid"/>
          </a:ln>
          <a:effectLst>
            <a:outerShdw sx="100000" sy="100000" kx="0" ky="0" algn="bl" rotWithShape="0" blurRad="88900" dist="25400" dir="8100000">
              <a:srgbClr val="000000">
                <a:alpha val="13000"/>
              </a:srgbClr>
            </a:outerShdw>
          </a:effectLst>
        </p:spPr>
      </p:sp>
      <p:sp>
        <p:nvSpPr>
          <p:cNvPr id="19" name="Shape 17"/>
          <p:cNvSpPr/>
          <p:nvPr/>
        </p:nvSpPr>
        <p:spPr>
          <a:xfrm>
            <a:off x="3337560" y="749808"/>
            <a:ext cx="2880360" cy="457200"/>
          </a:xfrm>
          <a:prstGeom prst="rect">
            <a:avLst/>
          </a:prstGeom>
          <a:solidFill>
            <a:srgbClr val="16A34A"/>
          </a:solidFill>
          <a:ln w="12700">
            <a:solidFill>
              <a:srgbClr val="16A34A"/>
            </a:solidFill>
            <a:prstDash val="solid"/>
          </a:ln>
        </p:spPr>
      </p:sp>
      <p:sp>
        <p:nvSpPr>
          <p:cNvPr id="20" name="Text 18"/>
          <p:cNvSpPr/>
          <p:nvPr/>
        </p:nvSpPr>
        <p:spPr>
          <a:xfrm>
            <a:off x="3337560" y="749808"/>
            <a:ext cx="2880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a:t>
            </a:r>
            <a:endParaRPr lang="en-US" sz="1400" dirty="0"/>
          </a:p>
        </p:txBody>
      </p:sp>
      <p:sp>
        <p:nvSpPr>
          <p:cNvPr id="21" name="Shape 19"/>
          <p:cNvSpPr/>
          <p:nvPr/>
        </p:nvSpPr>
        <p:spPr>
          <a:xfrm>
            <a:off x="3474720" y="1325880"/>
            <a:ext cx="2606040" cy="521208"/>
          </a:xfrm>
          <a:prstGeom prst="rect">
            <a:avLst/>
          </a:prstGeom>
          <a:solidFill>
            <a:srgbClr val="FFFFFF"/>
          </a:solidFill>
          <a:ln w="6350">
            <a:solidFill>
              <a:srgbClr val="BFDBFE"/>
            </a:solidFill>
            <a:prstDash val="solid"/>
          </a:ln>
        </p:spPr>
      </p:sp>
      <p:sp>
        <p:nvSpPr>
          <p:cNvPr id="22" name="Text 20"/>
          <p:cNvSpPr/>
          <p:nvPr/>
        </p:nvSpPr>
        <p:spPr>
          <a:xfrm>
            <a:off x="3474720" y="1325880"/>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Java 21</a:t>
            </a:r>
            <a:endParaRPr lang="en-US" sz="1200" dirty="0"/>
          </a:p>
        </p:txBody>
      </p:sp>
      <p:sp>
        <p:nvSpPr>
          <p:cNvPr id="23" name="Shape 21"/>
          <p:cNvSpPr/>
          <p:nvPr/>
        </p:nvSpPr>
        <p:spPr>
          <a:xfrm>
            <a:off x="3474720" y="1938528"/>
            <a:ext cx="2606040" cy="521208"/>
          </a:xfrm>
          <a:prstGeom prst="rect">
            <a:avLst/>
          </a:prstGeom>
          <a:solidFill>
            <a:srgbClr val="FFFFFF"/>
          </a:solidFill>
          <a:ln w="6350">
            <a:solidFill>
              <a:srgbClr val="BFDBFE"/>
            </a:solidFill>
            <a:prstDash val="solid"/>
          </a:ln>
        </p:spPr>
      </p:sp>
      <p:sp>
        <p:nvSpPr>
          <p:cNvPr id="24" name="Text 22"/>
          <p:cNvSpPr/>
          <p:nvPr/>
        </p:nvSpPr>
        <p:spPr>
          <a:xfrm>
            <a:off x="3474720" y="1938528"/>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Spring Boot 3.x</a:t>
            </a:r>
            <a:endParaRPr lang="en-US" sz="1200" dirty="0"/>
          </a:p>
        </p:txBody>
      </p:sp>
      <p:sp>
        <p:nvSpPr>
          <p:cNvPr id="25" name="Shape 23"/>
          <p:cNvSpPr/>
          <p:nvPr/>
        </p:nvSpPr>
        <p:spPr>
          <a:xfrm>
            <a:off x="3474720" y="2551176"/>
            <a:ext cx="2606040" cy="521208"/>
          </a:xfrm>
          <a:prstGeom prst="rect">
            <a:avLst/>
          </a:prstGeom>
          <a:solidFill>
            <a:srgbClr val="FFFFFF"/>
          </a:solidFill>
          <a:ln w="6350">
            <a:solidFill>
              <a:srgbClr val="BFDBFE"/>
            </a:solidFill>
            <a:prstDash val="solid"/>
          </a:ln>
        </p:spPr>
      </p:sp>
      <p:sp>
        <p:nvSpPr>
          <p:cNvPr id="26" name="Text 24"/>
          <p:cNvSpPr/>
          <p:nvPr/>
        </p:nvSpPr>
        <p:spPr>
          <a:xfrm>
            <a:off x="3474720" y="2551176"/>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Spring Data JPA</a:t>
            </a:r>
            <a:endParaRPr lang="en-US" sz="1200" dirty="0"/>
          </a:p>
        </p:txBody>
      </p:sp>
      <p:sp>
        <p:nvSpPr>
          <p:cNvPr id="27" name="Shape 25"/>
          <p:cNvSpPr/>
          <p:nvPr/>
        </p:nvSpPr>
        <p:spPr>
          <a:xfrm>
            <a:off x="3474720" y="3163824"/>
            <a:ext cx="2606040" cy="521208"/>
          </a:xfrm>
          <a:prstGeom prst="rect">
            <a:avLst/>
          </a:prstGeom>
          <a:solidFill>
            <a:srgbClr val="FFFFFF"/>
          </a:solidFill>
          <a:ln w="6350">
            <a:solidFill>
              <a:srgbClr val="BFDBFE"/>
            </a:solidFill>
            <a:prstDash val="solid"/>
          </a:ln>
        </p:spPr>
      </p:sp>
      <p:sp>
        <p:nvSpPr>
          <p:cNvPr id="28" name="Text 26"/>
          <p:cNvSpPr/>
          <p:nvPr/>
        </p:nvSpPr>
        <p:spPr>
          <a:xfrm>
            <a:off x="3474720" y="3163824"/>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Spring Security</a:t>
            </a:r>
            <a:endParaRPr lang="en-US" sz="1200" dirty="0"/>
          </a:p>
        </p:txBody>
      </p:sp>
      <p:sp>
        <p:nvSpPr>
          <p:cNvPr id="29" name="Shape 27"/>
          <p:cNvSpPr/>
          <p:nvPr/>
        </p:nvSpPr>
        <p:spPr>
          <a:xfrm>
            <a:off x="3474720" y="3776472"/>
            <a:ext cx="2606040" cy="521208"/>
          </a:xfrm>
          <a:prstGeom prst="rect">
            <a:avLst/>
          </a:prstGeom>
          <a:solidFill>
            <a:srgbClr val="FFFFFF"/>
          </a:solidFill>
          <a:ln w="6350">
            <a:solidFill>
              <a:srgbClr val="BFDBFE"/>
            </a:solidFill>
            <a:prstDash val="solid"/>
          </a:ln>
        </p:spPr>
      </p:sp>
      <p:sp>
        <p:nvSpPr>
          <p:cNvPr id="30" name="Text 28"/>
          <p:cNvSpPr/>
          <p:nvPr/>
        </p:nvSpPr>
        <p:spPr>
          <a:xfrm>
            <a:off x="3474720" y="3776472"/>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Swagger 문서화</a:t>
            </a:r>
            <a:endParaRPr lang="en-US" sz="1200" dirty="0"/>
          </a:p>
        </p:txBody>
      </p:sp>
      <p:sp>
        <p:nvSpPr>
          <p:cNvPr id="31" name="Shape 29"/>
          <p:cNvSpPr/>
          <p:nvPr/>
        </p:nvSpPr>
        <p:spPr>
          <a:xfrm>
            <a:off x="3474720" y="4389120"/>
            <a:ext cx="2606040" cy="521208"/>
          </a:xfrm>
          <a:prstGeom prst="rect">
            <a:avLst/>
          </a:prstGeom>
          <a:solidFill>
            <a:srgbClr val="FFFFFF"/>
          </a:solidFill>
          <a:ln w="6350">
            <a:solidFill>
              <a:srgbClr val="BFDBFE"/>
            </a:solidFill>
            <a:prstDash val="solid"/>
          </a:ln>
        </p:spPr>
      </p:sp>
      <p:sp>
        <p:nvSpPr>
          <p:cNvPr id="32" name="Text 30"/>
          <p:cNvSpPr/>
          <p:nvPr/>
        </p:nvSpPr>
        <p:spPr>
          <a:xfrm>
            <a:off x="3474720" y="4389120"/>
            <a:ext cx="2606040" cy="521208"/>
          </a:xfrm>
          <a:prstGeom prst="rect">
            <a:avLst/>
          </a:prstGeom>
          <a:noFill/>
          <a:ln/>
        </p:spPr>
        <p:txBody>
          <a:bodyPr wrap="square" lIns="0" tIns="0" rIns="0" bIns="0" rtlCol="0" anchor="ctr"/>
          <a:lstStyle/>
          <a:p>
            <a:pPr algn="ctr" indent="0" marL="0">
              <a:buNone/>
            </a:pPr>
            <a:r>
              <a:rPr lang="en-US" sz="1200" dirty="0">
                <a:solidFill>
                  <a:srgbClr val="15803D"/>
                </a:solidFill>
                <a:latin typeface="Calibri" pitchFamily="34" charset="0"/>
                <a:ea typeface="Calibri" pitchFamily="34" charset="-122"/>
                <a:cs typeface="Calibri" pitchFamily="34" charset="-120"/>
              </a:rPr>
              <a:t>PostgreSQL</a:t>
            </a:r>
            <a:endParaRPr lang="en-US" sz="1200" dirty="0"/>
          </a:p>
        </p:txBody>
      </p:sp>
      <p:sp>
        <p:nvSpPr>
          <p:cNvPr id="33" name="Shape 31"/>
          <p:cNvSpPr/>
          <p:nvPr/>
        </p:nvSpPr>
        <p:spPr>
          <a:xfrm>
            <a:off x="6492240" y="749808"/>
            <a:ext cx="2377440" cy="4251960"/>
          </a:xfrm>
          <a:prstGeom prst="rect">
            <a:avLst/>
          </a:prstGeom>
          <a:solidFill>
            <a:srgbClr val="FFF7ED"/>
          </a:solidFill>
          <a:ln w="19050">
            <a:solidFill>
              <a:srgbClr val="EA580C"/>
            </a:solidFill>
            <a:prstDash val="solid"/>
          </a:ln>
          <a:effectLst>
            <a:outerShdw sx="100000" sy="100000" kx="0" ky="0" algn="bl" rotWithShape="0" blurRad="88900" dist="25400" dir="8100000">
              <a:srgbClr val="000000">
                <a:alpha val="13000"/>
              </a:srgbClr>
            </a:outerShdw>
          </a:effectLst>
        </p:spPr>
      </p:sp>
      <p:sp>
        <p:nvSpPr>
          <p:cNvPr id="34" name="Shape 32"/>
          <p:cNvSpPr/>
          <p:nvPr/>
        </p:nvSpPr>
        <p:spPr>
          <a:xfrm>
            <a:off x="6492240" y="749808"/>
            <a:ext cx="2377440" cy="457200"/>
          </a:xfrm>
          <a:prstGeom prst="rect">
            <a:avLst/>
          </a:prstGeom>
          <a:solidFill>
            <a:srgbClr val="EA580C"/>
          </a:solidFill>
          <a:ln w="12700">
            <a:solidFill>
              <a:srgbClr val="EA580C"/>
            </a:solidFill>
            <a:prstDash val="solid"/>
          </a:ln>
        </p:spPr>
      </p:sp>
      <p:sp>
        <p:nvSpPr>
          <p:cNvPr id="35" name="Text 33"/>
          <p:cNvSpPr/>
          <p:nvPr/>
        </p:nvSpPr>
        <p:spPr>
          <a:xfrm>
            <a:off x="6492240" y="749808"/>
            <a:ext cx="2377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Infra / DevOps</a:t>
            </a:r>
            <a:endParaRPr lang="en-US" sz="1400" dirty="0"/>
          </a:p>
        </p:txBody>
      </p:sp>
      <p:sp>
        <p:nvSpPr>
          <p:cNvPr id="36" name="Shape 34"/>
          <p:cNvSpPr/>
          <p:nvPr/>
        </p:nvSpPr>
        <p:spPr>
          <a:xfrm>
            <a:off x="6629400" y="1325880"/>
            <a:ext cx="2103120" cy="612648"/>
          </a:xfrm>
          <a:prstGeom prst="rect">
            <a:avLst/>
          </a:prstGeom>
          <a:solidFill>
            <a:srgbClr val="FFFFFF"/>
          </a:solidFill>
          <a:ln w="6350">
            <a:solidFill>
              <a:srgbClr val="BFDBFE"/>
            </a:solidFill>
            <a:prstDash val="solid"/>
          </a:ln>
        </p:spPr>
      </p:sp>
      <p:sp>
        <p:nvSpPr>
          <p:cNvPr id="37" name="Text 35"/>
          <p:cNvSpPr/>
          <p:nvPr/>
        </p:nvSpPr>
        <p:spPr>
          <a:xfrm>
            <a:off x="6629400" y="1325880"/>
            <a:ext cx="2103120" cy="612648"/>
          </a:xfrm>
          <a:prstGeom prst="rect">
            <a:avLst/>
          </a:prstGeom>
          <a:noFill/>
          <a:ln/>
        </p:spPr>
        <p:txBody>
          <a:bodyPr wrap="square" lIns="0" tIns="0" rIns="0" bIns="0" rtlCol="0" anchor="ctr"/>
          <a:lstStyle/>
          <a:p>
            <a:pPr algn="ctr" indent="0" marL="0">
              <a:buNone/>
            </a:pPr>
            <a:r>
              <a:rPr lang="en-US" sz="1200" dirty="0">
                <a:solidFill>
                  <a:srgbClr val="9A3412"/>
                </a:solidFill>
                <a:latin typeface="Calibri" pitchFamily="34" charset="0"/>
                <a:ea typeface="Calibri" pitchFamily="34" charset="-122"/>
                <a:cs typeface="Calibri" pitchFamily="34" charset="-120"/>
              </a:rPr>
              <a:t>Docker</a:t>
            </a:r>
            <a:endParaRPr lang="en-US" sz="1200" dirty="0"/>
          </a:p>
        </p:txBody>
      </p:sp>
      <p:sp>
        <p:nvSpPr>
          <p:cNvPr id="38" name="Shape 36"/>
          <p:cNvSpPr/>
          <p:nvPr/>
        </p:nvSpPr>
        <p:spPr>
          <a:xfrm>
            <a:off x="6629400" y="2029968"/>
            <a:ext cx="2103120" cy="612648"/>
          </a:xfrm>
          <a:prstGeom prst="rect">
            <a:avLst/>
          </a:prstGeom>
          <a:solidFill>
            <a:srgbClr val="FFFFFF"/>
          </a:solidFill>
          <a:ln w="6350">
            <a:solidFill>
              <a:srgbClr val="BFDBFE"/>
            </a:solidFill>
            <a:prstDash val="solid"/>
          </a:ln>
        </p:spPr>
      </p:sp>
      <p:sp>
        <p:nvSpPr>
          <p:cNvPr id="39" name="Text 37"/>
          <p:cNvSpPr/>
          <p:nvPr/>
        </p:nvSpPr>
        <p:spPr>
          <a:xfrm>
            <a:off x="6629400" y="2029968"/>
            <a:ext cx="2103120" cy="612648"/>
          </a:xfrm>
          <a:prstGeom prst="rect">
            <a:avLst/>
          </a:prstGeom>
          <a:noFill/>
          <a:ln/>
        </p:spPr>
        <p:txBody>
          <a:bodyPr wrap="square" lIns="0" tIns="0" rIns="0" bIns="0" rtlCol="0" anchor="ctr"/>
          <a:lstStyle/>
          <a:p>
            <a:pPr algn="ctr" indent="0" marL="0">
              <a:buNone/>
            </a:pPr>
            <a:r>
              <a:rPr lang="en-US" sz="1200" dirty="0">
                <a:solidFill>
                  <a:srgbClr val="9A3412"/>
                </a:solidFill>
                <a:latin typeface="Calibri" pitchFamily="34" charset="0"/>
                <a:ea typeface="Calibri" pitchFamily="34" charset="-122"/>
                <a:cs typeface="Calibri" pitchFamily="34" charset="-120"/>
              </a:rPr>
              <a:t>Docker Compose</a:t>
            </a:r>
            <a:endParaRPr lang="en-US" sz="1200" dirty="0"/>
          </a:p>
        </p:txBody>
      </p:sp>
      <p:sp>
        <p:nvSpPr>
          <p:cNvPr id="40" name="Shape 38"/>
          <p:cNvSpPr/>
          <p:nvPr/>
        </p:nvSpPr>
        <p:spPr>
          <a:xfrm>
            <a:off x="6629400" y="2734056"/>
            <a:ext cx="2103120" cy="612648"/>
          </a:xfrm>
          <a:prstGeom prst="rect">
            <a:avLst/>
          </a:prstGeom>
          <a:solidFill>
            <a:srgbClr val="FFFFFF"/>
          </a:solidFill>
          <a:ln w="6350">
            <a:solidFill>
              <a:srgbClr val="BFDBFE"/>
            </a:solidFill>
            <a:prstDash val="solid"/>
          </a:ln>
        </p:spPr>
      </p:sp>
      <p:sp>
        <p:nvSpPr>
          <p:cNvPr id="41" name="Text 39"/>
          <p:cNvSpPr/>
          <p:nvPr/>
        </p:nvSpPr>
        <p:spPr>
          <a:xfrm>
            <a:off x="6629400" y="2734056"/>
            <a:ext cx="2103120" cy="612648"/>
          </a:xfrm>
          <a:prstGeom prst="rect">
            <a:avLst/>
          </a:prstGeom>
          <a:noFill/>
          <a:ln/>
        </p:spPr>
        <p:txBody>
          <a:bodyPr wrap="square" lIns="0" tIns="0" rIns="0" bIns="0" rtlCol="0" anchor="ctr"/>
          <a:lstStyle/>
          <a:p>
            <a:pPr algn="ctr" indent="0" marL="0">
              <a:buNone/>
            </a:pPr>
            <a:r>
              <a:rPr lang="en-US" sz="1200" dirty="0">
                <a:solidFill>
                  <a:srgbClr val="9A3412"/>
                </a:solidFill>
                <a:latin typeface="Calibri" pitchFamily="34" charset="0"/>
                <a:ea typeface="Calibri" pitchFamily="34" charset="-122"/>
                <a:cs typeface="Calibri" pitchFamily="34" charset="-120"/>
              </a:rPr>
              <a:t>Nginx (Reverse Proxy)</a:t>
            </a:r>
            <a:endParaRPr lang="en-US" sz="1200" dirty="0"/>
          </a:p>
        </p:txBody>
      </p:sp>
      <p:sp>
        <p:nvSpPr>
          <p:cNvPr id="42" name="Shape 40"/>
          <p:cNvSpPr/>
          <p:nvPr/>
        </p:nvSpPr>
        <p:spPr>
          <a:xfrm>
            <a:off x="6629400" y="3438144"/>
            <a:ext cx="2103120" cy="612648"/>
          </a:xfrm>
          <a:prstGeom prst="rect">
            <a:avLst/>
          </a:prstGeom>
          <a:solidFill>
            <a:srgbClr val="FFFFFF"/>
          </a:solidFill>
          <a:ln w="6350">
            <a:solidFill>
              <a:srgbClr val="BFDBFE"/>
            </a:solidFill>
            <a:prstDash val="solid"/>
          </a:ln>
        </p:spPr>
      </p:sp>
      <p:sp>
        <p:nvSpPr>
          <p:cNvPr id="43" name="Text 41"/>
          <p:cNvSpPr/>
          <p:nvPr/>
        </p:nvSpPr>
        <p:spPr>
          <a:xfrm>
            <a:off x="6629400" y="3438144"/>
            <a:ext cx="2103120" cy="612648"/>
          </a:xfrm>
          <a:prstGeom prst="rect">
            <a:avLst/>
          </a:prstGeom>
          <a:noFill/>
          <a:ln/>
        </p:spPr>
        <p:txBody>
          <a:bodyPr wrap="square" lIns="0" tIns="0" rIns="0" bIns="0" rtlCol="0" anchor="ctr"/>
          <a:lstStyle/>
          <a:p>
            <a:pPr algn="ctr" indent="0" marL="0">
              <a:buNone/>
            </a:pPr>
            <a:r>
              <a:rPr lang="en-US" sz="1200" dirty="0">
                <a:solidFill>
                  <a:srgbClr val="9A3412"/>
                </a:solidFill>
                <a:latin typeface="Calibri" pitchFamily="34" charset="0"/>
                <a:ea typeface="Calibri" pitchFamily="34" charset="-122"/>
                <a:cs typeface="Calibri" pitchFamily="34" charset="-120"/>
              </a:rPr>
              <a:t>GitHub Actions (CI/CD)</a:t>
            </a:r>
            <a:endParaRPr lang="en-US" sz="1200" dirty="0"/>
          </a:p>
        </p:txBody>
      </p:sp>
      <p:sp>
        <p:nvSpPr>
          <p:cNvPr id="44" name="Shape 42"/>
          <p:cNvSpPr/>
          <p:nvPr/>
        </p:nvSpPr>
        <p:spPr>
          <a:xfrm>
            <a:off x="6629400" y="4142232"/>
            <a:ext cx="2103120" cy="612648"/>
          </a:xfrm>
          <a:prstGeom prst="rect">
            <a:avLst/>
          </a:prstGeom>
          <a:solidFill>
            <a:srgbClr val="FFFFFF"/>
          </a:solidFill>
          <a:ln w="6350">
            <a:solidFill>
              <a:srgbClr val="BFDBFE"/>
            </a:solidFill>
            <a:prstDash val="solid"/>
          </a:ln>
        </p:spPr>
      </p:sp>
      <p:sp>
        <p:nvSpPr>
          <p:cNvPr id="45" name="Text 43"/>
          <p:cNvSpPr/>
          <p:nvPr/>
        </p:nvSpPr>
        <p:spPr>
          <a:xfrm>
            <a:off x="6629400" y="4142232"/>
            <a:ext cx="2103120" cy="612648"/>
          </a:xfrm>
          <a:prstGeom prst="rect">
            <a:avLst/>
          </a:prstGeom>
          <a:noFill/>
          <a:ln/>
        </p:spPr>
        <p:txBody>
          <a:bodyPr wrap="square" lIns="0" tIns="0" rIns="0" bIns="0" rtlCol="0" anchor="ctr"/>
          <a:lstStyle/>
          <a:p>
            <a:pPr algn="ctr" indent="0" marL="0">
              <a:buNone/>
            </a:pPr>
            <a:r>
              <a:rPr lang="en-US" sz="1200" dirty="0">
                <a:solidFill>
                  <a:srgbClr val="9A3412"/>
                </a:solidFill>
                <a:latin typeface="Calibri" pitchFamily="34" charset="0"/>
                <a:ea typeface="Calibri" pitchFamily="34" charset="-122"/>
                <a:cs typeface="Calibri" pitchFamily="34" charset="-120"/>
              </a:rPr>
              <a:t>PostgreSQL DB</a:t>
            </a:r>
            <a:endParaRPr lang="en-US" sz="1200" dirty="0"/>
          </a:p>
        </p:txBody>
      </p:sp>
      <p:sp>
        <p:nvSpPr>
          <p:cNvPr id="46" name="Shape 44"/>
          <p:cNvSpPr/>
          <p:nvPr/>
        </p:nvSpPr>
        <p:spPr>
          <a:xfrm>
            <a:off x="2788920" y="2880360"/>
            <a:ext cx="530352" cy="0"/>
          </a:xfrm>
          <a:prstGeom prst="line">
            <a:avLst/>
          </a:prstGeom>
          <a:noFill/>
          <a:ln w="25400">
            <a:solidFill>
              <a:srgbClr val="6B7280"/>
            </a:solidFill>
            <a:prstDash val="solid"/>
          </a:ln>
        </p:spPr>
      </p:sp>
      <p:sp>
        <p:nvSpPr>
          <p:cNvPr id="47" name="Text 45"/>
          <p:cNvSpPr/>
          <p:nvPr/>
        </p:nvSpPr>
        <p:spPr>
          <a:xfrm>
            <a:off x="2743200" y="2606040"/>
            <a:ext cx="640080" cy="32004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REST API</a:t>
            </a:r>
            <a:endParaRPr lang="en-US" sz="900" dirty="0"/>
          </a:p>
        </p:txBody>
      </p:sp>
      <p:sp>
        <p:nvSpPr>
          <p:cNvPr id="48" name="Shape 46"/>
          <p:cNvSpPr/>
          <p:nvPr/>
        </p:nvSpPr>
        <p:spPr>
          <a:xfrm>
            <a:off x="6400800" y="2880360"/>
            <a:ext cx="457200" cy="0"/>
          </a:xfrm>
          <a:prstGeom prst="line">
            <a:avLst/>
          </a:prstGeom>
          <a:noFill/>
          <a:ln w="25400">
            <a:solidFill>
              <a:srgbClr val="6B7280"/>
            </a:solidFill>
            <a:prstDash val="solid"/>
          </a:ln>
        </p:spPr>
      </p:sp>
      <p:sp>
        <p:nvSpPr>
          <p:cNvPr id="49" name="Text 47"/>
          <p:cNvSpPr/>
          <p:nvPr/>
        </p:nvSpPr>
        <p:spPr>
          <a:xfrm>
            <a:off x="6355080" y="2606040"/>
            <a:ext cx="640080" cy="320040"/>
          </a:xfrm>
          <a:prstGeom prst="rect">
            <a:avLst/>
          </a:prstGeom>
          <a:noFill/>
          <a:ln/>
        </p:spPr>
        <p:txBody>
          <a:bodyPr wrap="square" lIns="0" tIns="0" rIns="0" bIns="0" rtlCol="0" anchor="ctr"/>
          <a:lstStyle/>
          <a:p>
            <a:pPr algn="ct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04  주요 구현 기능</a:t>
            </a:r>
            <a:endParaRPr lang="en-US" sz="2100" dirty="0"/>
          </a:p>
        </p:txBody>
      </p:sp>
      <p:sp>
        <p:nvSpPr>
          <p:cNvPr id="5" name="Shape 3"/>
          <p:cNvSpPr/>
          <p:nvPr/>
        </p:nvSpPr>
        <p:spPr>
          <a:xfrm>
            <a:off x="292608" y="749808"/>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292608" y="749808"/>
            <a:ext cx="2743200" cy="475488"/>
          </a:xfrm>
          <a:prstGeom prst="rect">
            <a:avLst/>
          </a:prstGeom>
          <a:solidFill>
            <a:srgbClr val="3B82F6"/>
          </a:solidFill>
          <a:ln w="12700">
            <a:solidFill>
              <a:srgbClr val="3B82F6"/>
            </a:solidFill>
            <a:prstDash val="solid"/>
          </a:ln>
        </p:spPr>
      </p:sp>
      <p:sp>
        <p:nvSpPr>
          <p:cNvPr id="7" name="Text 5"/>
          <p:cNvSpPr/>
          <p:nvPr/>
        </p:nvSpPr>
        <p:spPr>
          <a:xfrm>
            <a:off x="292608" y="749808"/>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회원 시스템</a:t>
            </a:r>
            <a:endParaRPr lang="en-US" sz="1300" dirty="0"/>
          </a:p>
        </p:txBody>
      </p:sp>
      <p:sp>
        <p:nvSpPr>
          <p:cNvPr id="8" name="Text 6"/>
          <p:cNvSpPr/>
          <p:nvPr/>
        </p:nvSpPr>
        <p:spPr>
          <a:xfrm>
            <a:off x="402336" y="1280160"/>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회원가입 / 로그인 (Spring Security)</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마이페이지 통합 관리</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회원정보 수정 / 회원 탈퇴</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비밀번호 변경</a:t>
            </a:r>
            <a:endParaRPr lang="en-US" sz="1150" dirty="0"/>
          </a:p>
        </p:txBody>
      </p:sp>
      <p:sp>
        <p:nvSpPr>
          <p:cNvPr id="9" name="Shape 7"/>
          <p:cNvSpPr/>
          <p:nvPr/>
        </p:nvSpPr>
        <p:spPr>
          <a:xfrm>
            <a:off x="3246120" y="749808"/>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0" name="Shape 8"/>
          <p:cNvSpPr/>
          <p:nvPr/>
        </p:nvSpPr>
        <p:spPr>
          <a:xfrm>
            <a:off x="3246120" y="749808"/>
            <a:ext cx="2743200" cy="475488"/>
          </a:xfrm>
          <a:prstGeom prst="rect">
            <a:avLst/>
          </a:prstGeom>
          <a:solidFill>
            <a:srgbClr val="8B5CF6"/>
          </a:solidFill>
          <a:ln w="12700">
            <a:solidFill>
              <a:srgbClr val="8B5CF6"/>
            </a:solidFill>
            <a:prstDash val="solid"/>
          </a:ln>
        </p:spPr>
      </p:sp>
      <p:sp>
        <p:nvSpPr>
          <p:cNvPr id="11" name="Text 9"/>
          <p:cNvSpPr/>
          <p:nvPr/>
        </p:nvSpPr>
        <p:spPr>
          <a:xfrm>
            <a:off x="3246120" y="749808"/>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상품 관리</a:t>
            </a:r>
            <a:endParaRPr lang="en-US" sz="1300" dirty="0"/>
          </a:p>
        </p:txBody>
      </p:sp>
      <p:sp>
        <p:nvSpPr>
          <p:cNvPr id="12" name="Text 10"/>
          <p:cNvSpPr/>
          <p:nvPr/>
        </p:nvSpPr>
        <p:spPr>
          <a:xfrm>
            <a:off x="3355848" y="1280160"/>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상품 목록 / 상세 조회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카테고리 분류 (관리자 CRUD)</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재고 관리 및 수정</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이미지 업로드</a:t>
            </a:r>
            <a:endParaRPr lang="en-US" sz="1150" dirty="0"/>
          </a:p>
        </p:txBody>
      </p:sp>
      <p:sp>
        <p:nvSpPr>
          <p:cNvPr id="13" name="Shape 11"/>
          <p:cNvSpPr/>
          <p:nvPr/>
        </p:nvSpPr>
        <p:spPr>
          <a:xfrm>
            <a:off x="6199632" y="749808"/>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4" name="Shape 12"/>
          <p:cNvSpPr/>
          <p:nvPr/>
        </p:nvSpPr>
        <p:spPr>
          <a:xfrm>
            <a:off x="6199632" y="749808"/>
            <a:ext cx="2743200" cy="475488"/>
          </a:xfrm>
          <a:prstGeom prst="rect">
            <a:avLst/>
          </a:prstGeom>
          <a:solidFill>
            <a:srgbClr val="EA580C"/>
          </a:solidFill>
          <a:ln w="12700">
            <a:solidFill>
              <a:srgbClr val="EA580C"/>
            </a:solidFill>
            <a:prstDash val="solid"/>
          </a:ln>
        </p:spPr>
      </p:sp>
      <p:sp>
        <p:nvSpPr>
          <p:cNvPr id="15" name="Text 13"/>
          <p:cNvSpPr/>
          <p:nvPr/>
        </p:nvSpPr>
        <p:spPr>
          <a:xfrm>
            <a:off x="6199632" y="749808"/>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장바구니 / 주문</a:t>
            </a:r>
            <a:endParaRPr lang="en-US" sz="1300" dirty="0"/>
          </a:p>
        </p:txBody>
      </p:sp>
      <p:sp>
        <p:nvSpPr>
          <p:cNvPr id="16" name="Text 14"/>
          <p:cNvSpPr/>
          <p:nvPr/>
        </p:nvSpPr>
        <p:spPr>
          <a:xfrm>
            <a:off x="6309360" y="1280160"/>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장바구니 담기 · 수량 변경</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주문서 작성 및 주문 생성</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주문 상태 실시간 추적</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주문 취소 (상태별 처리)</a:t>
            </a:r>
            <a:endParaRPr lang="en-US" sz="1150" dirty="0"/>
          </a:p>
        </p:txBody>
      </p:sp>
      <p:sp>
        <p:nvSpPr>
          <p:cNvPr id="17" name="Shape 15"/>
          <p:cNvSpPr/>
          <p:nvPr/>
        </p:nvSpPr>
        <p:spPr>
          <a:xfrm>
            <a:off x="292608" y="3008376"/>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8" name="Shape 16"/>
          <p:cNvSpPr/>
          <p:nvPr/>
        </p:nvSpPr>
        <p:spPr>
          <a:xfrm>
            <a:off x="292608" y="3008376"/>
            <a:ext cx="2743200" cy="475488"/>
          </a:xfrm>
          <a:prstGeom prst="rect">
            <a:avLst/>
          </a:prstGeom>
          <a:solidFill>
            <a:srgbClr val="EC4899"/>
          </a:solidFill>
          <a:ln w="12700">
            <a:solidFill>
              <a:srgbClr val="EC4899"/>
            </a:solidFill>
            <a:prstDash val="solid"/>
          </a:ln>
        </p:spPr>
      </p:sp>
      <p:sp>
        <p:nvSpPr>
          <p:cNvPr id="19" name="Text 17"/>
          <p:cNvSpPr/>
          <p:nvPr/>
        </p:nvSpPr>
        <p:spPr>
          <a:xfrm>
            <a:off x="292608" y="3008376"/>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결제 시스템</a:t>
            </a:r>
            <a:endParaRPr lang="en-US" sz="1300" dirty="0"/>
          </a:p>
        </p:txBody>
      </p:sp>
      <p:sp>
        <p:nvSpPr>
          <p:cNvPr id="20" name="Text 18"/>
          <p:cNvSpPr/>
          <p:nvPr/>
        </p:nvSpPr>
        <p:spPr>
          <a:xfrm>
            <a:off x="402336" y="3538728"/>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토스페이 API 연동 (완료)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카카오페이 API 연동 (완료)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계좌이체 독립 구현 (완료)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네이버페이 (부분 구현)</a:t>
            </a:r>
            <a:endParaRPr lang="en-US" sz="1150" dirty="0"/>
          </a:p>
        </p:txBody>
      </p:sp>
      <p:sp>
        <p:nvSpPr>
          <p:cNvPr id="21" name="Shape 19"/>
          <p:cNvSpPr/>
          <p:nvPr/>
        </p:nvSpPr>
        <p:spPr>
          <a:xfrm>
            <a:off x="3246120" y="3008376"/>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22" name="Shape 20"/>
          <p:cNvSpPr/>
          <p:nvPr/>
        </p:nvSpPr>
        <p:spPr>
          <a:xfrm>
            <a:off x="3246120" y="3008376"/>
            <a:ext cx="2743200" cy="475488"/>
          </a:xfrm>
          <a:prstGeom prst="rect">
            <a:avLst/>
          </a:prstGeom>
          <a:solidFill>
            <a:srgbClr val="10B981"/>
          </a:solidFill>
          <a:ln w="12700">
            <a:solidFill>
              <a:srgbClr val="10B981"/>
            </a:solidFill>
            <a:prstDash val="solid"/>
          </a:ln>
        </p:spPr>
      </p:sp>
      <p:sp>
        <p:nvSpPr>
          <p:cNvPr id="23" name="Text 21"/>
          <p:cNvSpPr/>
          <p:nvPr/>
        </p:nvSpPr>
        <p:spPr>
          <a:xfrm>
            <a:off x="3246120" y="3008376"/>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배송 관리</a:t>
            </a:r>
            <a:endParaRPr lang="en-US" sz="1300" dirty="0"/>
          </a:p>
        </p:txBody>
      </p:sp>
      <p:sp>
        <p:nvSpPr>
          <p:cNvPr id="24" name="Text 22"/>
          <p:cNvSpPr/>
          <p:nvPr/>
        </p:nvSpPr>
        <p:spPr>
          <a:xfrm>
            <a:off x="3355848" y="3538728"/>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관리자 주문 승인</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승인 후 배송 레코드 자동 생성</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택배사 / 운송장 입력 검증</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배송 상태 사용자 화면 자동 반영</a:t>
            </a:r>
            <a:endParaRPr lang="en-US" sz="1150" dirty="0"/>
          </a:p>
        </p:txBody>
      </p:sp>
      <p:sp>
        <p:nvSpPr>
          <p:cNvPr id="25" name="Shape 23"/>
          <p:cNvSpPr/>
          <p:nvPr/>
        </p:nvSpPr>
        <p:spPr>
          <a:xfrm>
            <a:off x="6199632" y="3008376"/>
            <a:ext cx="2743200" cy="21031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26" name="Shape 24"/>
          <p:cNvSpPr/>
          <p:nvPr/>
        </p:nvSpPr>
        <p:spPr>
          <a:xfrm>
            <a:off x="6199632" y="3008376"/>
            <a:ext cx="2743200" cy="475488"/>
          </a:xfrm>
          <a:prstGeom prst="rect">
            <a:avLst/>
          </a:prstGeom>
          <a:solidFill>
            <a:srgbClr val="1E3A5F"/>
          </a:solidFill>
          <a:ln w="12700">
            <a:solidFill>
              <a:srgbClr val="1E3A5F"/>
            </a:solidFill>
            <a:prstDash val="solid"/>
          </a:ln>
        </p:spPr>
      </p:sp>
      <p:sp>
        <p:nvSpPr>
          <p:cNvPr id="27" name="Text 25"/>
          <p:cNvSpPr/>
          <p:nvPr/>
        </p:nvSpPr>
        <p:spPr>
          <a:xfrm>
            <a:off x="6199632" y="3008376"/>
            <a:ext cx="27432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게시판 / CS</a:t>
            </a:r>
            <a:endParaRPr lang="en-US" sz="1300" dirty="0"/>
          </a:p>
        </p:txBody>
      </p:sp>
      <p:sp>
        <p:nvSpPr>
          <p:cNvPr id="28" name="Text 26"/>
          <p:cNvSpPr/>
          <p:nvPr/>
        </p:nvSpPr>
        <p:spPr>
          <a:xfrm>
            <a:off x="6309360" y="3538728"/>
            <a:ext cx="2523744" cy="150876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공지사항 (게시판형 + 모달)</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Q&amp;A 문의 / 관리자 답변</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상품 리뷰 작성 · 수정 · 삭제</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마이페이지 내 문의 / 내 리뷰</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05  서비스 흐름 설계 — 주문 · 배송 상태</a:t>
            </a:r>
            <a:endParaRPr lang="en-US" sz="2100" dirty="0"/>
          </a:p>
        </p:txBody>
      </p:sp>
      <p:sp>
        <p:nvSpPr>
          <p:cNvPr id="5" name="Shape 3"/>
          <p:cNvSpPr/>
          <p:nvPr/>
        </p:nvSpPr>
        <p:spPr>
          <a:xfrm>
            <a:off x="256032" y="777240"/>
            <a:ext cx="1508760" cy="713232"/>
          </a:xfrm>
          <a:prstGeom prst="rect">
            <a:avLst/>
          </a:prstGeom>
          <a:solidFill>
            <a:srgbClr val="6B7280"/>
          </a:solidFill>
          <a:ln w="12700">
            <a:solidFill>
              <a:srgbClr val="6B7280"/>
            </a:solidFill>
            <a:prstDash val="solid"/>
          </a:ln>
          <a:effectLst>
            <a:outerShdw sx="100000" sy="100000" kx="0" ky="0" algn="bl" rotWithShape="0" blurRad="88900" dist="25400" dir="8100000">
              <a:srgbClr val="000000">
                <a:alpha val="13000"/>
              </a:srgbClr>
            </a:outerShdw>
          </a:effectLst>
        </p:spPr>
      </p:sp>
      <p:sp>
        <p:nvSpPr>
          <p:cNvPr id="6" name="Text 4"/>
          <p:cNvSpPr/>
          <p:nvPr/>
        </p:nvSpPr>
        <p:spPr>
          <a:xfrm>
            <a:off x="256032" y="777240"/>
            <a:ext cx="15087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PAYMENT</a:t>
            </a:r>
            <a:endParaRPr lang="en-US" sz="1000" dirty="0"/>
          </a:p>
          <a:p>
            <a:pPr algn="ctr" indent="0" marL="0">
              <a:buNone/>
            </a:pPr>
            <a:r>
              <a:rPr lang="en-US" sz="1000" b="1" dirty="0">
                <a:solidFill>
                  <a:srgbClr val="FFFFFF"/>
                </a:solidFill>
                <a:latin typeface="Consolas" pitchFamily="34" charset="0"/>
                <a:ea typeface="Consolas" pitchFamily="34" charset="-122"/>
                <a:cs typeface="Consolas" pitchFamily="34" charset="-120"/>
              </a:rPr>
              <a:t>PENDING</a:t>
            </a:r>
            <a:endParaRPr lang="en-US" sz="1000" dirty="0"/>
          </a:p>
        </p:txBody>
      </p:sp>
      <p:sp>
        <p:nvSpPr>
          <p:cNvPr id="7" name="Text 5"/>
          <p:cNvSpPr/>
          <p:nvPr/>
        </p:nvSpPr>
        <p:spPr>
          <a:xfrm>
            <a:off x="164592" y="1536192"/>
            <a:ext cx="1691640" cy="45720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결제 대기</a:t>
            </a:r>
            <a:endParaRPr lang="en-US" sz="1100" dirty="0"/>
          </a:p>
        </p:txBody>
      </p:sp>
      <p:sp>
        <p:nvSpPr>
          <p:cNvPr id="8" name="Shape 6"/>
          <p:cNvSpPr/>
          <p:nvPr/>
        </p:nvSpPr>
        <p:spPr>
          <a:xfrm>
            <a:off x="1764792" y="1133856"/>
            <a:ext cx="228600" cy="0"/>
          </a:xfrm>
          <a:prstGeom prst="line">
            <a:avLst/>
          </a:prstGeom>
          <a:noFill/>
          <a:ln w="25400">
            <a:solidFill>
              <a:srgbClr val="6B7280"/>
            </a:solidFill>
            <a:prstDash val="solid"/>
          </a:ln>
        </p:spPr>
      </p:sp>
      <p:sp>
        <p:nvSpPr>
          <p:cNvPr id="9" name="Shape 7"/>
          <p:cNvSpPr/>
          <p:nvPr/>
        </p:nvSpPr>
        <p:spPr>
          <a:xfrm>
            <a:off x="1993392" y="777240"/>
            <a:ext cx="1508760" cy="713232"/>
          </a:xfrm>
          <a:prstGeom prst="rect">
            <a:avLst/>
          </a:prstGeom>
          <a:solidFill>
            <a:srgbClr val="3B82F6"/>
          </a:solidFill>
          <a:ln w="12700">
            <a:solidFill>
              <a:srgbClr val="3B82F6"/>
            </a:solidFill>
            <a:prstDash val="solid"/>
          </a:ln>
          <a:effectLst>
            <a:outerShdw sx="100000" sy="100000" kx="0" ky="0" algn="bl" rotWithShape="0" blurRad="88900" dist="25400" dir="8100000">
              <a:srgbClr val="000000">
                <a:alpha val="13000"/>
              </a:srgbClr>
            </a:outerShdw>
          </a:effectLst>
        </p:spPr>
      </p:sp>
      <p:sp>
        <p:nvSpPr>
          <p:cNvPr id="10" name="Text 8"/>
          <p:cNvSpPr/>
          <p:nvPr/>
        </p:nvSpPr>
        <p:spPr>
          <a:xfrm>
            <a:off x="1993392" y="777240"/>
            <a:ext cx="15087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PENDING</a:t>
            </a:r>
            <a:endParaRPr lang="en-US" sz="1000" dirty="0"/>
          </a:p>
        </p:txBody>
      </p:sp>
      <p:sp>
        <p:nvSpPr>
          <p:cNvPr id="11" name="Text 9"/>
          <p:cNvSpPr/>
          <p:nvPr/>
        </p:nvSpPr>
        <p:spPr>
          <a:xfrm>
            <a:off x="1901952" y="1536192"/>
            <a:ext cx="1691640" cy="45720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결제 완료</a:t>
            </a:r>
            <a:endParaRPr lang="en-US" sz="1100" dirty="0"/>
          </a:p>
          <a:p>
            <a:pPr algn="ctr" indent="0" marL="0">
              <a:buNone/>
            </a:pPr>
            <a:r>
              <a:rPr lang="en-US" sz="1100" dirty="0">
                <a:solidFill>
                  <a:srgbClr val="2C2C2C"/>
                </a:solidFill>
                <a:latin typeface="Calibri" pitchFamily="34" charset="0"/>
                <a:ea typeface="Calibri" pitchFamily="34" charset="-122"/>
                <a:cs typeface="Calibri" pitchFamily="34" charset="-120"/>
              </a:rPr>
              <a:t>승인 대기</a:t>
            </a:r>
            <a:endParaRPr lang="en-US" sz="1100" dirty="0"/>
          </a:p>
        </p:txBody>
      </p:sp>
      <p:sp>
        <p:nvSpPr>
          <p:cNvPr id="12" name="Shape 10"/>
          <p:cNvSpPr/>
          <p:nvPr/>
        </p:nvSpPr>
        <p:spPr>
          <a:xfrm>
            <a:off x="3502152" y="1133856"/>
            <a:ext cx="228600" cy="0"/>
          </a:xfrm>
          <a:prstGeom prst="line">
            <a:avLst/>
          </a:prstGeom>
          <a:noFill/>
          <a:ln w="25400">
            <a:solidFill>
              <a:srgbClr val="6B7280"/>
            </a:solidFill>
            <a:prstDash val="solid"/>
          </a:ln>
        </p:spPr>
      </p:sp>
      <p:sp>
        <p:nvSpPr>
          <p:cNvPr id="13" name="Shape 11"/>
          <p:cNvSpPr/>
          <p:nvPr/>
        </p:nvSpPr>
        <p:spPr>
          <a:xfrm>
            <a:off x="3730752" y="777240"/>
            <a:ext cx="1508760" cy="713232"/>
          </a:xfrm>
          <a:prstGeom prst="rect">
            <a:avLst/>
          </a:prstGeom>
          <a:solidFill>
            <a:srgbClr val="8B5CF6"/>
          </a:solidFill>
          <a:ln w="12700">
            <a:solidFill>
              <a:srgbClr val="8B5CF6"/>
            </a:solidFill>
            <a:prstDash val="solid"/>
          </a:ln>
          <a:effectLst>
            <a:outerShdw sx="100000" sy="100000" kx="0" ky="0" algn="bl" rotWithShape="0" blurRad="88900" dist="25400" dir="8100000">
              <a:srgbClr val="000000">
                <a:alpha val="13000"/>
              </a:srgbClr>
            </a:outerShdw>
          </a:effectLst>
        </p:spPr>
      </p:sp>
      <p:sp>
        <p:nvSpPr>
          <p:cNvPr id="14" name="Text 12"/>
          <p:cNvSpPr/>
          <p:nvPr/>
        </p:nvSpPr>
        <p:spPr>
          <a:xfrm>
            <a:off x="3730752" y="777240"/>
            <a:ext cx="15087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APPROVAL</a:t>
            </a:r>
            <a:endParaRPr lang="en-US" sz="1000" dirty="0"/>
          </a:p>
        </p:txBody>
      </p:sp>
      <p:sp>
        <p:nvSpPr>
          <p:cNvPr id="15" name="Text 13"/>
          <p:cNvSpPr/>
          <p:nvPr/>
        </p:nvSpPr>
        <p:spPr>
          <a:xfrm>
            <a:off x="3639312" y="1536192"/>
            <a:ext cx="1691640" cy="45720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관리자 승인</a:t>
            </a:r>
            <a:endParaRPr lang="en-US" sz="1100" dirty="0"/>
          </a:p>
          <a:p>
            <a:pPr algn="ctr" indent="0" marL="0">
              <a:buNone/>
            </a:pPr>
            <a:r>
              <a:rPr lang="en-US" sz="1100" dirty="0">
                <a:solidFill>
                  <a:srgbClr val="2C2C2C"/>
                </a:solidFill>
                <a:latin typeface="Calibri" pitchFamily="34" charset="0"/>
                <a:ea typeface="Calibri" pitchFamily="34" charset="-122"/>
                <a:cs typeface="Calibri" pitchFamily="34" charset="-120"/>
              </a:rPr>
              <a:t>배송 준비</a:t>
            </a:r>
            <a:endParaRPr lang="en-US" sz="1100" dirty="0"/>
          </a:p>
        </p:txBody>
      </p:sp>
      <p:sp>
        <p:nvSpPr>
          <p:cNvPr id="16" name="Shape 14"/>
          <p:cNvSpPr/>
          <p:nvPr/>
        </p:nvSpPr>
        <p:spPr>
          <a:xfrm>
            <a:off x="5239512" y="1133856"/>
            <a:ext cx="228600" cy="0"/>
          </a:xfrm>
          <a:prstGeom prst="line">
            <a:avLst/>
          </a:prstGeom>
          <a:noFill/>
          <a:ln w="25400">
            <a:solidFill>
              <a:srgbClr val="6B7280"/>
            </a:solidFill>
            <a:prstDash val="solid"/>
          </a:ln>
        </p:spPr>
      </p:sp>
      <p:sp>
        <p:nvSpPr>
          <p:cNvPr id="17" name="Shape 15"/>
          <p:cNvSpPr/>
          <p:nvPr/>
        </p:nvSpPr>
        <p:spPr>
          <a:xfrm>
            <a:off x="5468112" y="777240"/>
            <a:ext cx="1508760" cy="713232"/>
          </a:xfrm>
          <a:prstGeom prst="rect">
            <a:avLst/>
          </a:prstGeom>
          <a:solidFill>
            <a:srgbClr val="EA580C"/>
          </a:solidFill>
          <a:ln w="12700">
            <a:solidFill>
              <a:srgbClr val="EA580C"/>
            </a:solidFill>
            <a:prstDash val="solid"/>
          </a:ln>
          <a:effectLst>
            <a:outerShdw sx="100000" sy="100000" kx="0" ky="0" algn="bl" rotWithShape="0" blurRad="88900" dist="25400" dir="8100000">
              <a:srgbClr val="000000">
                <a:alpha val="13000"/>
              </a:srgbClr>
            </a:outerShdw>
          </a:effectLst>
        </p:spPr>
      </p:sp>
      <p:sp>
        <p:nvSpPr>
          <p:cNvPr id="18" name="Text 16"/>
          <p:cNvSpPr/>
          <p:nvPr/>
        </p:nvSpPr>
        <p:spPr>
          <a:xfrm>
            <a:off x="5468112" y="777240"/>
            <a:ext cx="15087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DELIVERING</a:t>
            </a:r>
            <a:endParaRPr lang="en-US" sz="1000" dirty="0"/>
          </a:p>
        </p:txBody>
      </p:sp>
      <p:sp>
        <p:nvSpPr>
          <p:cNvPr id="19" name="Text 17"/>
          <p:cNvSpPr/>
          <p:nvPr/>
        </p:nvSpPr>
        <p:spPr>
          <a:xfrm>
            <a:off x="5376672" y="1536192"/>
            <a:ext cx="1691640" cy="45720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배송 중</a:t>
            </a:r>
            <a:endParaRPr lang="en-US" sz="1100" dirty="0"/>
          </a:p>
        </p:txBody>
      </p:sp>
      <p:sp>
        <p:nvSpPr>
          <p:cNvPr id="20" name="Shape 18"/>
          <p:cNvSpPr/>
          <p:nvPr/>
        </p:nvSpPr>
        <p:spPr>
          <a:xfrm>
            <a:off x="6976872" y="1133856"/>
            <a:ext cx="228600" cy="0"/>
          </a:xfrm>
          <a:prstGeom prst="line">
            <a:avLst/>
          </a:prstGeom>
          <a:noFill/>
          <a:ln w="25400">
            <a:solidFill>
              <a:srgbClr val="6B7280"/>
            </a:solidFill>
            <a:prstDash val="solid"/>
          </a:ln>
        </p:spPr>
      </p:sp>
      <p:sp>
        <p:nvSpPr>
          <p:cNvPr id="21" name="Shape 19"/>
          <p:cNvSpPr/>
          <p:nvPr/>
        </p:nvSpPr>
        <p:spPr>
          <a:xfrm>
            <a:off x="7205472" y="777240"/>
            <a:ext cx="1508760" cy="713232"/>
          </a:xfrm>
          <a:prstGeom prst="rect">
            <a:avLst/>
          </a:prstGeom>
          <a:solidFill>
            <a:srgbClr val="16A34A"/>
          </a:solidFill>
          <a:ln w="12700">
            <a:solidFill>
              <a:srgbClr val="16A34A"/>
            </a:solidFill>
            <a:prstDash val="solid"/>
          </a:ln>
          <a:effectLst>
            <a:outerShdw sx="100000" sy="100000" kx="0" ky="0" algn="bl" rotWithShape="0" blurRad="88900" dist="25400" dir="8100000">
              <a:srgbClr val="000000">
                <a:alpha val="13000"/>
              </a:srgbClr>
            </a:outerShdw>
          </a:effectLst>
        </p:spPr>
      </p:sp>
      <p:sp>
        <p:nvSpPr>
          <p:cNvPr id="22" name="Text 20"/>
          <p:cNvSpPr/>
          <p:nvPr/>
        </p:nvSpPr>
        <p:spPr>
          <a:xfrm>
            <a:off x="7205472" y="777240"/>
            <a:ext cx="15087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DELIVERED</a:t>
            </a:r>
            <a:endParaRPr lang="en-US" sz="1000" dirty="0"/>
          </a:p>
        </p:txBody>
      </p:sp>
      <p:sp>
        <p:nvSpPr>
          <p:cNvPr id="23" name="Text 21"/>
          <p:cNvSpPr/>
          <p:nvPr/>
        </p:nvSpPr>
        <p:spPr>
          <a:xfrm>
            <a:off x="7114032" y="1536192"/>
            <a:ext cx="1691640" cy="45720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배송 완료</a:t>
            </a:r>
            <a:endParaRPr lang="en-US" sz="1100" dirty="0"/>
          </a:p>
        </p:txBody>
      </p:sp>
      <p:sp>
        <p:nvSpPr>
          <p:cNvPr id="24" name="Shape 22"/>
          <p:cNvSpPr/>
          <p:nvPr/>
        </p:nvSpPr>
        <p:spPr>
          <a:xfrm>
            <a:off x="256032" y="2103120"/>
            <a:ext cx="1508760" cy="548640"/>
          </a:xfrm>
          <a:prstGeom prst="rect">
            <a:avLst/>
          </a:prstGeom>
          <a:solidFill>
            <a:srgbClr val="DC2626"/>
          </a:solidFill>
          <a:ln w="12700">
            <a:solidFill>
              <a:srgbClr val="DC2626"/>
            </a:solidFill>
            <a:prstDash val="solid"/>
          </a:ln>
          <a:effectLst>
            <a:outerShdw sx="100000" sy="100000" kx="0" ky="0" algn="bl" rotWithShape="0" blurRad="88900" dist="25400" dir="8100000">
              <a:srgbClr val="000000">
                <a:alpha val="13000"/>
              </a:srgbClr>
            </a:outerShdw>
          </a:effectLst>
        </p:spPr>
      </p:sp>
      <p:sp>
        <p:nvSpPr>
          <p:cNvPr id="25" name="Text 23"/>
          <p:cNvSpPr/>
          <p:nvPr/>
        </p:nvSpPr>
        <p:spPr>
          <a:xfrm>
            <a:off x="256032" y="2103120"/>
            <a:ext cx="15087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CANCELED</a:t>
            </a:r>
            <a:endParaRPr lang="en-US" sz="1100" dirty="0"/>
          </a:p>
        </p:txBody>
      </p:sp>
      <p:sp>
        <p:nvSpPr>
          <p:cNvPr id="26" name="Shape 24"/>
          <p:cNvSpPr/>
          <p:nvPr/>
        </p:nvSpPr>
        <p:spPr>
          <a:xfrm>
            <a:off x="1005840" y="1490472"/>
            <a:ext cx="0" cy="612648"/>
          </a:xfrm>
          <a:prstGeom prst="line">
            <a:avLst/>
          </a:prstGeom>
          <a:noFill/>
          <a:ln w="19050">
            <a:solidFill>
              <a:srgbClr val="DC2626"/>
            </a:solidFill>
            <a:prstDash val="solid"/>
          </a:ln>
        </p:spPr>
      </p:sp>
      <p:sp>
        <p:nvSpPr>
          <p:cNvPr id="27" name="Shape 25"/>
          <p:cNvSpPr/>
          <p:nvPr/>
        </p:nvSpPr>
        <p:spPr>
          <a:xfrm>
            <a:off x="347472" y="2743200"/>
            <a:ext cx="8449056" cy="585216"/>
          </a:xfrm>
          <a:prstGeom prst="rect">
            <a:avLst/>
          </a:prstGeom>
          <a:solidFill>
            <a:srgbClr val="EFF6FF"/>
          </a:solidFill>
          <a:ln w="12700">
            <a:solidFill>
              <a:srgbClr val="E5E7EB"/>
            </a:solidFill>
            <a:prstDash val="solid"/>
          </a:ln>
        </p:spPr>
      </p:sp>
      <p:sp>
        <p:nvSpPr>
          <p:cNvPr id="28" name="Text 26"/>
          <p:cNvSpPr/>
          <p:nvPr/>
        </p:nvSpPr>
        <p:spPr>
          <a:xfrm>
            <a:off x="502920" y="2743200"/>
            <a:ext cx="8229600" cy="585216"/>
          </a:xfrm>
          <a:prstGeom prst="rect">
            <a:avLst/>
          </a:prstGeom>
          <a:noFill/>
          <a:ln/>
        </p:spPr>
        <p:txBody>
          <a:bodyPr wrap="square" lIns="0" tIns="0" rIns="0" bIns="0" rtlCol="0" anchor="ctr"/>
          <a:lstStyle/>
          <a:p>
            <a:pPr indent="0" marL="0">
              <a:buNone/>
            </a:pPr>
            <a:r>
              <a:rPr lang="en-US" sz="1250" dirty="0">
                <a:solidFill>
                  <a:srgbClr val="2C2C2C"/>
                </a:solidFill>
                <a:latin typeface="Calibri" pitchFamily="34" charset="0"/>
                <a:ea typeface="Calibri" pitchFamily="34" charset="-122"/>
                <a:cs typeface="Calibri" pitchFamily="34" charset="-120"/>
              </a:rPr>
              <a:t>🔑  결제 완료 시점에 배송 레코드 생성 안 함 → 관리자 승인 시점에만 생성</a:t>
            </a:r>
            <a:endParaRPr lang="en-US" sz="1250" dirty="0"/>
          </a:p>
        </p:txBody>
      </p:sp>
      <p:sp>
        <p:nvSpPr>
          <p:cNvPr id="29" name="Shape 27"/>
          <p:cNvSpPr/>
          <p:nvPr/>
        </p:nvSpPr>
        <p:spPr>
          <a:xfrm>
            <a:off x="347472" y="3401568"/>
            <a:ext cx="8449056" cy="585216"/>
          </a:xfrm>
          <a:prstGeom prst="rect">
            <a:avLst/>
          </a:prstGeom>
          <a:solidFill>
            <a:srgbClr val="F0FDF4"/>
          </a:solidFill>
          <a:ln w="12700">
            <a:solidFill>
              <a:srgbClr val="E5E7EB"/>
            </a:solidFill>
            <a:prstDash val="solid"/>
          </a:ln>
        </p:spPr>
      </p:sp>
      <p:sp>
        <p:nvSpPr>
          <p:cNvPr id="30" name="Text 28"/>
          <p:cNvSpPr/>
          <p:nvPr/>
        </p:nvSpPr>
        <p:spPr>
          <a:xfrm>
            <a:off x="502920" y="3401568"/>
            <a:ext cx="8229600" cy="585216"/>
          </a:xfrm>
          <a:prstGeom prst="rect">
            <a:avLst/>
          </a:prstGeom>
          <a:noFill/>
          <a:ln/>
        </p:spPr>
        <p:txBody>
          <a:bodyPr wrap="square" lIns="0" tIns="0" rIns="0" bIns="0" rtlCol="0" anchor="ctr"/>
          <a:lstStyle/>
          <a:p>
            <a:pPr indent="0" marL="0">
              <a:buNone/>
            </a:pPr>
            <a:r>
              <a:rPr lang="en-US" sz="1250" dirty="0">
                <a:solidFill>
                  <a:srgbClr val="2C2C2C"/>
                </a:solidFill>
                <a:latin typeface="Calibri" pitchFamily="34" charset="0"/>
                <a:ea typeface="Calibri" pitchFamily="34" charset="-122"/>
                <a:cs typeface="Calibri" pitchFamily="34" charset="-120"/>
              </a:rPr>
              <a:t>🔄  관리자 배송 상태 변경 시 사용자 주문 내역에 자동 반영</a:t>
            </a:r>
            <a:endParaRPr lang="en-US" sz="1250" dirty="0"/>
          </a:p>
        </p:txBody>
      </p:sp>
      <p:sp>
        <p:nvSpPr>
          <p:cNvPr id="31" name="Shape 29"/>
          <p:cNvSpPr/>
          <p:nvPr/>
        </p:nvSpPr>
        <p:spPr>
          <a:xfrm>
            <a:off x="347472" y="4059936"/>
            <a:ext cx="8449056" cy="585216"/>
          </a:xfrm>
          <a:prstGeom prst="rect">
            <a:avLst/>
          </a:prstGeom>
          <a:solidFill>
            <a:srgbClr val="FFF7ED"/>
          </a:solidFill>
          <a:ln w="12700">
            <a:solidFill>
              <a:srgbClr val="E5E7EB"/>
            </a:solidFill>
            <a:prstDash val="solid"/>
          </a:ln>
        </p:spPr>
      </p:sp>
      <p:sp>
        <p:nvSpPr>
          <p:cNvPr id="32" name="Text 30"/>
          <p:cNvSpPr/>
          <p:nvPr/>
        </p:nvSpPr>
        <p:spPr>
          <a:xfrm>
            <a:off x="502920" y="4059936"/>
            <a:ext cx="8229600" cy="585216"/>
          </a:xfrm>
          <a:prstGeom prst="rect">
            <a:avLst/>
          </a:prstGeom>
          <a:noFill/>
          <a:ln/>
        </p:spPr>
        <p:txBody>
          <a:bodyPr wrap="square" lIns="0" tIns="0" rIns="0" bIns="0" rtlCol="0" anchor="ctr"/>
          <a:lstStyle/>
          <a:p>
            <a:pPr indent="0" marL="0">
              <a:buNone/>
            </a:pPr>
            <a:r>
              <a:rPr lang="en-US" sz="1250" dirty="0">
                <a:solidFill>
                  <a:srgbClr val="2C2C2C"/>
                </a:solidFill>
                <a:latin typeface="Calibri" pitchFamily="34" charset="0"/>
                <a:ea typeface="Calibri" pitchFamily="34" charset="-122"/>
                <a:cs typeface="Calibri" pitchFamily="34" charset="-120"/>
              </a:rPr>
              <a:t>🚚  운송장 · 택배사 없이 출고 불가 → 운영 실수 방지 로직 내장</a:t>
            </a:r>
            <a:endParaRPr lang="en-US" sz="1250" dirty="0"/>
          </a:p>
        </p:txBody>
      </p:sp>
      <p:sp>
        <p:nvSpPr>
          <p:cNvPr id="33" name="Shape 31"/>
          <p:cNvSpPr/>
          <p:nvPr/>
        </p:nvSpPr>
        <p:spPr>
          <a:xfrm>
            <a:off x="347472" y="4754880"/>
            <a:ext cx="8449056" cy="274320"/>
          </a:xfrm>
          <a:prstGeom prst="rect">
            <a:avLst/>
          </a:prstGeom>
          <a:solidFill>
            <a:srgbClr val="FEE2E2"/>
          </a:solidFill>
          <a:ln w="12700">
            <a:solidFill>
              <a:srgbClr val="DC2626"/>
            </a:solidFill>
            <a:prstDash val="solid"/>
          </a:ln>
        </p:spPr>
      </p:sp>
      <p:sp>
        <p:nvSpPr>
          <p:cNvPr id="34" name="Text 32"/>
          <p:cNvSpPr/>
          <p:nvPr/>
        </p:nvSpPr>
        <p:spPr>
          <a:xfrm>
            <a:off x="347472" y="4754880"/>
            <a:ext cx="8449056" cy="274320"/>
          </a:xfrm>
          <a:prstGeom prst="rect">
            <a:avLst/>
          </a:prstGeom>
          <a:noFill/>
          <a:ln/>
        </p:spPr>
        <p:txBody>
          <a:bodyPr wrap="square" lIns="0" tIns="0" rIns="0" bIns="0" rtlCol="0" anchor="ctr"/>
          <a:lstStyle/>
          <a:p>
            <a:pPr algn="ctr" indent="0" marL="0">
              <a:buNone/>
            </a:pPr>
            <a:r>
              <a:rPr lang="en-US" sz="1150" dirty="0">
                <a:solidFill>
                  <a:srgbClr val="DC2626"/>
                </a:solidFill>
                <a:latin typeface="Calibri" pitchFamily="34" charset="0"/>
                <a:ea typeface="Calibri" pitchFamily="34" charset="-122"/>
                <a:cs typeface="Calibri" pitchFamily="34" charset="-120"/>
              </a:rPr>
              <a:t>💳  배송 중 취소 시 반품비 6,000원 차감 · 배송 완료 후 취소 불가 정책을 로직에 구현</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06  결제 시스템</a:t>
            </a:r>
            <a:endParaRPr lang="en-US" sz="2100" dirty="0"/>
          </a:p>
        </p:txBody>
      </p:sp>
      <p:sp>
        <p:nvSpPr>
          <p:cNvPr id="5" name="Shape 3"/>
          <p:cNvSpPr/>
          <p:nvPr/>
        </p:nvSpPr>
        <p:spPr>
          <a:xfrm>
            <a:off x="292608" y="749808"/>
            <a:ext cx="2011680" cy="41605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292608" y="749808"/>
            <a:ext cx="2011680" cy="475488"/>
          </a:xfrm>
          <a:prstGeom prst="rect">
            <a:avLst/>
          </a:prstGeom>
          <a:solidFill>
            <a:srgbClr val="1E3A5F"/>
          </a:solidFill>
          <a:ln w="12700">
            <a:solidFill>
              <a:srgbClr val="1E3A5F"/>
            </a:solidFill>
            <a:prstDash val="solid"/>
          </a:ln>
        </p:spPr>
      </p:sp>
      <p:sp>
        <p:nvSpPr>
          <p:cNvPr id="7" name="Text 5"/>
          <p:cNvSpPr/>
          <p:nvPr/>
        </p:nvSpPr>
        <p:spPr>
          <a:xfrm>
            <a:off x="292608" y="749808"/>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토스페이</a:t>
            </a:r>
            <a:endParaRPr lang="en-US" sz="1300" dirty="0"/>
          </a:p>
        </p:txBody>
      </p:sp>
      <p:sp>
        <p:nvSpPr>
          <p:cNvPr id="8" name="Shape 6"/>
          <p:cNvSpPr/>
          <p:nvPr/>
        </p:nvSpPr>
        <p:spPr>
          <a:xfrm>
            <a:off x="539496" y="1353312"/>
            <a:ext cx="1517904" cy="365760"/>
          </a:xfrm>
          <a:prstGeom prst="rect">
            <a:avLst/>
          </a:prstGeom>
          <a:solidFill>
            <a:srgbClr val="16A34A"/>
          </a:solidFill>
          <a:ln w="12700">
            <a:solidFill>
              <a:srgbClr val="16A34A"/>
            </a:solidFill>
            <a:prstDash val="solid"/>
          </a:ln>
        </p:spPr>
      </p:sp>
      <p:sp>
        <p:nvSpPr>
          <p:cNvPr id="9" name="Text 7"/>
          <p:cNvSpPr/>
          <p:nvPr/>
        </p:nvSpPr>
        <p:spPr>
          <a:xfrm>
            <a:off x="539496" y="1353312"/>
            <a:ext cx="151790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구현 완료</a:t>
            </a:r>
            <a:endParaRPr lang="en-US" sz="1200" dirty="0"/>
          </a:p>
        </p:txBody>
      </p:sp>
      <p:sp>
        <p:nvSpPr>
          <p:cNvPr id="10" name="Text 8"/>
          <p:cNvSpPr/>
          <p:nvPr/>
        </p:nvSpPr>
        <p:spPr>
          <a:xfrm>
            <a:off x="384048" y="1847088"/>
            <a:ext cx="1828800" cy="292608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토스 결제 승인 API 정식 연동</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승인 후 주문 PENDING 전환</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결제 내역 '토스페이'로 저장</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취소 시 전액/반품비 차감 환불 처리</a:t>
            </a:r>
            <a:endParaRPr lang="en-US" sz="1150" dirty="0"/>
          </a:p>
        </p:txBody>
      </p:sp>
      <p:sp>
        <p:nvSpPr>
          <p:cNvPr id="11" name="Shape 9"/>
          <p:cNvSpPr/>
          <p:nvPr/>
        </p:nvSpPr>
        <p:spPr>
          <a:xfrm>
            <a:off x="2468880" y="749808"/>
            <a:ext cx="2011680" cy="41605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2" name="Shape 10"/>
          <p:cNvSpPr/>
          <p:nvPr/>
        </p:nvSpPr>
        <p:spPr>
          <a:xfrm>
            <a:off x="2468880" y="749808"/>
            <a:ext cx="2011680" cy="475488"/>
          </a:xfrm>
          <a:prstGeom prst="rect">
            <a:avLst/>
          </a:prstGeom>
          <a:solidFill>
            <a:srgbClr val="1E3A5F"/>
          </a:solidFill>
          <a:ln w="12700">
            <a:solidFill>
              <a:srgbClr val="1E3A5F"/>
            </a:solidFill>
            <a:prstDash val="solid"/>
          </a:ln>
        </p:spPr>
      </p:sp>
      <p:sp>
        <p:nvSpPr>
          <p:cNvPr id="13" name="Text 11"/>
          <p:cNvSpPr/>
          <p:nvPr/>
        </p:nvSpPr>
        <p:spPr>
          <a:xfrm>
            <a:off x="2468880" y="749808"/>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카카오페이</a:t>
            </a:r>
            <a:endParaRPr lang="en-US" sz="1300" dirty="0"/>
          </a:p>
        </p:txBody>
      </p:sp>
      <p:sp>
        <p:nvSpPr>
          <p:cNvPr id="14" name="Shape 12"/>
          <p:cNvSpPr/>
          <p:nvPr/>
        </p:nvSpPr>
        <p:spPr>
          <a:xfrm>
            <a:off x="2715768" y="1353312"/>
            <a:ext cx="1517904" cy="365760"/>
          </a:xfrm>
          <a:prstGeom prst="rect">
            <a:avLst/>
          </a:prstGeom>
          <a:solidFill>
            <a:srgbClr val="16A34A"/>
          </a:solidFill>
          <a:ln w="12700">
            <a:solidFill>
              <a:srgbClr val="16A34A"/>
            </a:solidFill>
            <a:prstDash val="solid"/>
          </a:ln>
        </p:spPr>
      </p:sp>
      <p:sp>
        <p:nvSpPr>
          <p:cNvPr id="15" name="Text 13"/>
          <p:cNvSpPr/>
          <p:nvPr/>
        </p:nvSpPr>
        <p:spPr>
          <a:xfrm>
            <a:off x="2715768" y="1353312"/>
            <a:ext cx="151790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구현 완료</a:t>
            </a:r>
            <a:endParaRPr lang="en-US" sz="1200" dirty="0"/>
          </a:p>
        </p:txBody>
      </p:sp>
      <p:sp>
        <p:nvSpPr>
          <p:cNvPr id="16" name="Text 14"/>
          <p:cNvSpPr/>
          <p:nvPr/>
        </p:nvSpPr>
        <p:spPr>
          <a:xfrm>
            <a:off x="2560320" y="1847088"/>
            <a:ext cx="1828800" cy="292608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결제 준비 API 호출</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외부 결제창 팝업 이동</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승인 완료 시 주문·결제 내역 자동 반영</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환불 흐름 연계 완료</a:t>
            </a:r>
            <a:endParaRPr lang="en-US" sz="1150" dirty="0"/>
          </a:p>
        </p:txBody>
      </p:sp>
      <p:sp>
        <p:nvSpPr>
          <p:cNvPr id="17" name="Shape 15"/>
          <p:cNvSpPr/>
          <p:nvPr/>
        </p:nvSpPr>
        <p:spPr>
          <a:xfrm>
            <a:off x="4645152" y="749808"/>
            <a:ext cx="2011680" cy="41605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8" name="Shape 16"/>
          <p:cNvSpPr/>
          <p:nvPr/>
        </p:nvSpPr>
        <p:spPr>
          <a:xfrm>
            <a:off x="4645152" y="749808"/>
            <a:ext cx="2011680" cy="475488"/>
          </a:xfrm>
          <a:prstGeom prst="rect">
            <a:avLst/>
          </a:prstGeom>
          <a:solidFill>
            <a:srgbClr val="1E3A5F"/>
          </a:solidFill>
          <a:ln w="12700">
            <a:solidFill>
              <a:srgbClr val="1E3A5F"/>
            </a:solidFill>
            <a:prstDash val="solid"/>
          </a:ln>
        </p:spPr>
      </p:sp>
      <p:sp>
        <p:nvSpPr>
          <p:cNvPr id="19" name="Text 17"/>
          <p:cNvSpPr/>
          <p:nvPr/>
        </p:nvSpPr>
        <p:spPr>
          <a:xfrm>
            <a:off x="4645152" y="749808"/>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계좌이체</a:t>
            </a:r>
            <a:endParaRPr lang="en-US" sz="1300" dirty="0"/>
          </a:p>
        </p:txBody>
      </p:sp>
      <p:sp>
        <p:nvSpPr>
          <p:cNvPr id="20" name="Shape 18"/>
          <p:cNvSpPr/>
          <p:nvPr/>
        </p:nvSpPr>
        <p:spPr>
          <a:xfrm>
            <a:off x="4892040" y="1353312"/>
            <a:ext cx="1517904" cy="365760"/>
          </a:xfrm>
          <a:prstGeom prst="rect">
            <a:avLst/>
          </a:prstGeom>
          <a:solidFill>
            <a:srgbClr val="16A34A"/>
          </a:solidFill>
          <a:ln w="12700">
            <a:solidFill>
              <a:srgbClr val="16A34A"/>
            </a:solidFill>
            <a:prstDash val="solid"/>
          </a:ln>
        </p:spPr>
      </p:sp>
      <p:sp>
        <p:nvSpPr>
          <p:cNvPr id="21" name="Text 19"/>
          <p:cNvSpPr/>
          <p:nvPr/>
        </p:nvSpPr>
        <p:spPr>
          <a:xfrm>
            <a:off x="4892040" y="1353312"/>
            <a:ext cx="151790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구현 완료</a:t>
            </a:r>
            <a:endParaRPr lang="en-US" sz="1200" dirty="0"/>
          </a:p>
        </p:txBody>
      </p:sp>
      <p:sp>
        <p:nvSpPr>
          <p:cNvPr id="22" name="Text 20"/>
          <p:cNvSpPr/>
          <p:nvPr/>
        </p:nvSpPr>
        <p:spPr>
          <a:xfrm>
            <a:off x="4736592" y="1847088"/>
            <a:ext cx="1828800" cy="292608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별도 PG 없는 독립 방식 구현</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주문 생성 후 계좌이체로 기록</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결제 내역에서 수단 별도 확인 가능</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취소 처리 연계 완료</a:t>
            </a:r>
            <a:endParaRPr lang="en-US" sz="1150" dirty="0"/>
          </a:p>
        </p:txBody>
      </p:sp>
      <p:sp>
        <p:nvSpPr>
          <p:cNvPr id="23" name="Shape 21"/>
          <p:cNvSpPr/>
          <p:nvPr/>
        </p:nvSpPr>
        <p:spPr>
          <a:xfrm>
            <a:off x="6821424" y="749808"/>
            <a:ext cx="2011680" cy="4160520"/>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24" name="Shape 22"/>
          <p:cNvSpPr/>
          <p:nvPr/>
        </p:nvSpPr>
        <p:spPr>
          <a:xfrm>
            <a:off x="6821424" y="749808"/>
            <a:ext cx="2011680" cy="475488"/>
          </a:xfrm>
          <a:prstGeom prst="rect">
            <a:avLst/>
          </a:prstGeom>
          <a:solidFill>
            <a:srgbClr val="1E3A5F"/>
          </a:solidFill>
          <a:ln w="12700">
            <a:solidFill>
              <a:srgbClr val="1E3A5F"/>
            </a:solidFill>
            <a:prstDash val="solid"/>
          </a:ln>
        </p:spPr>
      </p:sp>
      <p:sp>
        <p:nvSpPr>
          <p:cNvPr id="25" name="Text 23"/>
          <p:cNvSpPr/>
          <p:nvPr/>
        </p:nvSpPr>
        <p:spPr>
          <a:xfrm>
            <a:off x="6821424" y="749808"/>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네이버페이</a:t>
            </a:r>
            <a:endParaRPr lang="en-US" sz="1300" dirty="0"/>
          </a:p>
        </p:txBody>
      </p:sp>
      <p:sp>
        <p:nvSpPr>
          <p:cNvPr id="26" name="Shape 24"/>
          <p:cNvSpPr/>
          <p:nvPr/>
        </p:nvSpPr>
        <p:spPr>
          <a:xfrm>
            <a:off x="7068312" y="1353312"/>
            <a:ext cx="1517904" cy="365760"/>
          </a:xfrm>
          <a:prstGeom prst="rect">
            <a:avLst/>
          </a:prstGeom>
          <a:solidFill>
            <a:srgbClr val="EA580C"/>
          </a:solidFill>
          <a:ln w="12700">
            <a:solidFill>
              <a:srgbClr val="EA580C"/>
            </a:solidFill>
            <a:prstDash val="solid"/>
          </a:ln>
        </p:spPr>
      </p:sp>
      <p:sp>
        <p:nvSpPr>
          <p:cNvPr id="27" name="Text 25"/>
          <p:cNvSpPr/>
          <p:nvPr/>
        </p:nvSpPr>
        <p:spPr>
          <a:xfrm>
            <a:off x="7068312" y="1353312"/>
            <a:ext cx="151790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부분 구현</a:t>
            </a:r>
            <a:endParaRPr lang="en-US" sz="1200" dirty="0"/>
          </a:p>
        </p:txBody>
      </p:sp>
      <p:sp>
        <p:nvSpPr>
          <p:cNvPr id="28" name="Text 26"/>
          <p:cNvSpPr/>
          <p:nvPr/>
        </p:nvSpPr>
        <p:spPr>
          <a:xfrm>
            <a:off x="6912864" y="1847088"/>
            <a:ext cx="1828800" cy="2926080"/>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 결제 화면 UX 구성 완료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현재 샌드박스/임시 흐름 수준</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paymentId 실발급 미연동</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 정식 연동은 향후 보완 예정</a:t>
            </a:r>
            <a:endParaRPr lang="en-US" sz="1150" dirty="0"/>
          </a:p>
        </p:txBody>
      </p:sp>
      <p:sp>
        <p:nvSpPr>
          <p:cNvPr id="29" name="Shape 27"/>
          <p:cNvSpPr/>
          <p:nvPr/>
        </p:nvSpPr>
        <p:spPr>
          <a:xfrm>
            <a:off x="347472" y="4773168"/>
            <a:ext cx="8449056" cy="274320"/>
          </a:xfrm>
          <a:prstGeom prst="rect">
            <a:avLst/>
          </a:prstGeom>
          <a:solidFill>
            <a:srgbClr val="FEF3C7"/>
          </a:solidFill>
          <a:ln w="12700">
            <a:solidFill>
              <a:srgbClr val="EA580C"/>
            </a:solidFill>
            <a:prstDash val="solid"/>
          </a:ln>
        </p:spPr>
      </p:sp>
      <p:sp>
        <p:nvSpPr>
          <p:cNvPr id="30" name="Text 28"/>
          <p:cNvSpPr/>
          <p:nvPr/>
        </p:nvSpPr>
        <p:spPr>
          <a:xfrm>
            <a:off x="347472" y="4773168"/>
            <a:ext cx="8449056" cy="274320"/>
          </a:xfrm>
          <a:prstGeom prst="rect">
            <a:avLst/>
          </a:prstGeom>
          <a:noFill/>
          <a:ln/>
        </p:spPr>
        <p:txBody>
          <a:bodyPr wrap="square" lIns="0" tIns="0" rIns="0" bIns="0" rtlCol="0" anchor="ctr"/>
          <a:lstStyle/>
          <a:p>
            <a:pPr algn="ctr" indent="0" marL="0">
              <a:buNone/>
            </a:pPr>
            <a:r>
              <a:rPr lang="en-US" sz="1150" dirty="0">
                <a:solidFill>
                  <a:srgbClr val="92400E"/>
                </a:solidFill>
                <a:latin typeface="Calibri" pitchFamily="34" charset="0"/>
                <a:ea typeface="Calibri" pitchFamily="34" charset="-122"/>
                <a:cs typeface="Calibri" pitchFamily="34" charset="-120"/>
              </a:rPr>
              <a:t>⚠  네이버페이는 현재 샌드박스/임시 흐름 수준 — 실결제 정식 연동은 향후 보완 예정</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07  시연 계획</a:t>
            </a:r>
            <a:endParaRPr lang="en-US" sz="2100" dirty="0"/>
          </a:p>
        </p:txBody>
      </p:sp>
      <p:sp>
        <p:nvSpPr>
          <p:cNvPr id="5" name="Shape 3"/>
          <p:cNvSpPr/>
          <p:nvPr/>
        </p:nvSpPr>
        <p:spPr>
          <a:xfrm>
            <a:off x="292608" y="749808"/>
            <a:ext cx="4251960" cy="2212848"/>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292608" y="749808"/>
            <a:ext cx="4251960" cy="475488"/>
          </a:xfrm>
          <a:prstGeom prst="rect">
            <a:avLst/>
          </a:prstGeom>
          <a:solidFill>
            <a:srgbClr val="3B82F6"/>
          </a:solidFill>
          <a:ln w="12700">
            <a:solidFill>
              <a:srgbClr val="3B82F6"/>
            </a:solidFill>
            <a:prstDash val="solid"/>
          </a:ln>
        </p:spPr>
      </p:sp>
      <p:sp>
        <p:nvSpPr>
          <p:cNvPr id="7" name="Text 5"/>
          <p:cNvSpPr/>
          <p:nvPr/>
        </p:nvSpPr>
        <p:spPr>
          <a:xfrm>
            <a:off x="292608" y="749808"/>
            <a:ext cx="4251960" cy="475488"/>
          </a:xfrm>
          <a:prstGeom prst="rect">
            <a:avLst/>
          </a:prstGeom>
          <a:noFill/>
          <a:ln/>
        </p:spPr>
        <p:txBody>
          <a:bodyPr wrap="square" lIns="0" tIns="12700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01  사용자 구매 흐름</a:t>
            </a:r>
            <a:endParaRPr lang="en-US" sz="1300" dirty="0"/>
          </a:p>
        </p:txBody>
      </p:sp>
      <p:sp>
        <p:nvSpPr>
          <p:cNvPr id="8" name="Text 6"/>
          <p:cNvSpPr/>
          <p:nvPr/>
        </p:nvSpPr>
        <p:spPr>
          <a:xfrm>
            <a:off x="402336" y="1271016"/>
            <a:ext cx="4023360" cy="1627632"/>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1. 메인 화면 진입</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2. 상품 목록 탐색 및 상세 조회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3. 장바구니 담기 (수량 변경)</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4. 주문서 작성 → 결제 수단 선택 → 결제 완료</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5. 마이페이지 주문 / 결제 내역 확인</a:t>
            </a:r>
            <a:endParaRPr lang="en-US" sz="1150" dirty="0"/>
          </a:p>
        </p:txBody>
      </p:sp>
      <p:sp>
        <p:nvSpPr>
          <p:cNvPr id="9" name="Shape 7"/>
          <p:cNvSpPr/>
          <p:nvPr/>
        </p:nvSpPr>
        <p:spPr>
          <a:xfrm>
            <a:off x="4754880" y="749808"/>
            <a:ext cx="4251960" cy="2212848"/>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0" name="Shape 8"/>
          <p:cNvSpPr/>
          <p:nvPr/>
        </p:nvSpPr>
        <p:spPr>
          <a:xfrm>
            <a:off x="4754880" y="749808"/>
            <a:ext cx="4251960" cy="475488"/>
          </a:xfrm>
          <a:prstGeom prst="rect">
            <a:avLst/>
          </a:prstGeom>
          <a:solidFill>
            <a:srgbClr val="8B5CF6"/>
          </a:solidFill>
          <a:ln w="12700">
            <a:solidFill>
              <a:srgbClr val="8B5CF6"/>
            </a:solidFill>
            <a:prstDash val="solid"/>
          </a:ln>
        </p:spPr>
      </p:sp>
      <p:sp>
        <p:nvSpPr>
          <p:cNvPr id="11" name="Text 9"/>
          <p:cNvSpPr/>
          <p:nvPr/>
        </p:nvSpPr>
        <p:spPr>
          <a:xfrm>
            <a:off x="4754880" y="749808"/>
            <a:ext cx="4251960" cy="475488"/>
          </a:xfrm>
          <a:prstGeom prst="rect">
            <a:avLst/>
          </a:prstGeom>
          <a:noFill/>
          <a:ln/>
        </p:spPr>
        <p:txBody>
          <a:bodyPr wrap="square" lIns="0" tIns="12700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02  관리자 주문 · 배송 흐름</a:t>
            </a:r>
            <a:endParaRPr lang="en-US" sz="1300" dirty="0"/>
          </a:p>
        </p:txBody>
      </p:sp>
      <p:sp>
        <p:nvSpPr>
          <p:cNvPr id="12" name="Text 10"/>
          <p:cNvSpPr/>
          <p:nvPr/>
        </p:nvSpPr>
        <p:spPr>
          <a:xfrm>
            <a:off x="4864608" y="1271016"/>
            <a:ext cx="4023360" cy="1627632"/>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1. 관리자 계정 로그인</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2. 주문 관리 → 승인 대기 목록 확인</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3. 주문 일괄 승인 → 배송 레코드 자동 생성</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4. 배송 관리 → 택배사 / 운송장 입력 후 출고 처리</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5. 사용자 화면 '배송 중' 자동 반영 확인</a:t>
            </a:r>
            <a:endParaRPr lang="en-US" sz="1150" dirty="0"/>
          </a:p>
        </p:txBody>
      </p:sp>
      <p:sp>
        <p:nvSpPr>
          <p:cNvPr id="13" name="Shape 11"/>
          <p:cNvSpPr/>
          <p:nvPr/>
        </p:nvSpPr>
        <p:spPr>
          <a:xfrm>
            <a:off x="292608" y="3127248"/>
            <a:ext cx="4251960" cy="2212848"/>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4" name="Shape 12"/>
          <p:cNvSpPr/>
          <p:nvPr/>
        </p:nvSpPr>
        <p:spPr>
          <a:xfrm>
            <a:off x="292608" y="3127248"/>
            <a:ext cx="4251960" cy="475488"/>
          </a:xfrm>
          <a:prstGeom prst="rect">
            <a:avLst/>
          </a:prstGeom>
          <a:solidFill>
            <a:srgbClr val="EA580C"/>
          </a:solidFill>
          <a:ln w="12700">
            <a:solidFill>
              <a:srgbClr val="EA580C"/>
            </a:solidFill>
            <a:prstDash val="solid"/>
          </a:ln>
        </p:spPr>
      </p:sp>
      <p:sp>
        <p:nvSpPr>
          <p:cNvPr id="15" name="Text 13"/>
          <p:cNvSpPr/>
          <p:nvPr/>
        </p:nvSpPr>
        <p:spPr>
          <a:xfrm>
            <a:off x="292608" y="3127248"/>
            <a:ext cx="4251960" cy="475488"/>
          </a:xfrm>
          <a:prstGeom prst="rect">
            <a:avLst/>
          </a:prstGeom>
          <a:noFill/>
          <a:ln/>
        </p:spPr>
        <p:txBody>
          <a:bodyPr wrap="square" lIns="0" tIns="12700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03  환불 / 취소 정책</a:t>
            </a:r>
            <a:endParaRPr lang="en-US" sz="1300" dirty="0"/>
          </a:p>
        </p:txBody>
      </p:sp>
      <p:sp>
        <p:nvSpPr>
          <p:cNvPr id="16" name="Text 14"/>
          <p:cNvSpPr/>
          <p:nvPr/>
        </p:nvSpPr>
        <p:spPr>
          <a:xfrm>
            <a:off x="402336" y="3648456"/>
            <a:ext cx="4023360" cy="1627632"/>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1. 배송 준비(APPROVAL) 주문 취소 → 전액 환불 확인</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2. 배송 중(DELIVERING) 취소 → 반품비 6,000원 차감</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3. 결제 내역에서 실환불금액 / 반품비 표시 확인</a:t>
            </a:r>
            <a:endParaRPr lang="en-US" sz="1150" dirty="0"/>
          </a:p>
        </p:txBody>
      </p:sp>
      <p:sp>
        <p:nvSpPr>
          <p:cNvPr id="17" name="Shape 15"/>
          <p:cNvSpPr/>
          <p:nvPr/>
        </p:nvSpPr>
        <p:spPr>
          <a:xfrm>
            <a:off x="4754880" y="3127248"/>
            <a:ext cx="4251960" cy="2212848"/>
          </a:xfrm>
          <a:prstGeom prst="rect">
            <a:avLst/>
          </a:prstGeom>
          <a:solidFill>
            <a:srgbClr val="FFFFFF"/>
          </a:solidFill>
          <a:ln w="12700">
            <a:solidFill>
              <a:srgbClr val="E5E7EB"/>
            </a:solidFill>
            <a:prstDash val="solid"/>
          </a:ln>
          <a:effectLst>
            <a:outerShdw sx="100000" sy="100000" kx="0" ky="0" algn="bl" rotWithShape="0" blurRad="88900" dist="25400" dir="8100000">
              <a:srgbClr val="000000">
                <a:alpha val="13000"/>
              </a:srgbClr>
            </a:outerShdw>
          </a:effectLst>
        </p:spPr>
      </p:sp>
      <p:sp>
        <p:nvSpPr>
          <p:cNvPr id="18" name="Shape 16"/>
          <p:cNvSpPr/>
          <p:nvPr/>
        </p:nvSpPr>
        <p:spPr>
          <a:xfrm>
            <a:off x="4754880" y="3127248"/>
            <a:ext cx="4251960" cy="475488"/>
          </a:xfrm>
          <a:prstGeom prst="rect">
            <a:avLst/>
          </a:prstGeom>
          <a:solidFill>
            <a:srgbClr val="10B981"/>
          </a:solidFill>
          <a:ln w="12700">
            <a:solidFill>
              <a:srgbClr val="10B981"/>
            </a:solidFill>
            <a:prstDash val="solid"/>
          </a:ln>
        </p:spPr>
      </p:sp>
      <p:sp>
        <p:nvSpPr>
          <p:cNvPr id="19" name="Text 17"/>
          <p:cNvSpPr/>
          <p:nvPr/>
        </p:nvSpPr>
        <p:spPr>
          <a:xfrm>
            <a:off x="4754880" y="3127248"/>
            <a:ext cx="4251960" cy="475488"/>
          </a:xfrm>
          <a:prstGeom prst="rect">
            <a:avLst/>
          </a:prstGeom>
          <a:noFill/>
          <a:ln/>
        </p:spPr>
        <p:txBody>
          <a:bodyPr wrap="square" lIns="0" tIns="12700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04  게시판 &amp; 마이페이지</a:t>
            </a:r>
            <a:endParaRPr lang="en-US" sz="1300" dirty="0"/>
          </a:p>
        </p:txBody>
      </p:sp>
      <p:sp>
        <p:nvSpPr>
          <p:cNvPr id="20" name="Text 18"/>
          <p:cNvSpPr/>
          <p:nvPr/>
        </p:nvSpPr>
        <p:spPr>
          <a:xfrm>
            <a:off x="4864608" y="3648456"/>
            <a:ext cx="4023360" cy="1627632"/>
          </a:xfrm>
          <a:prstGeom prst="rect">
            <a:avLst/>
          </a:prstGeom>
          <a:noFill/>
          <a:ln/>
        </p:spPr>
        <p:txBody>
          <a:bodyPr wrap="square" lIns="0" tIns="0" rIns="0" bIns="0" rtlCol="0" anchor="t"/>
          <a:lstStyle/>
          <a:p>
            <a:pPr indent="0" marL="0">
              <a:buNone/>
            </a:pPr>
            <a:r>
              <a:rPr lang="en-US" sz="1150" dirty="0">
                <a:solidFill>
                  <a:srgbClr val="2C2C2C"/>
                </a:solidFill>
                <a:latin typeface="Calibri" pitchFamily="34" charset="0"/>
                <a:ea typeface="Calibri" pitchFamily="34" charset="-122"/>
                <a:cs typeface="Calibri" pitchFamily="34" charset="-120"/>
              </a:rPr>
              <a:t>1. 공지사항 목록 확인 및 모달 상세 보기</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2. Q&amp;A 작성 → 관리자 답변 확인</a:t>
            </a:r>
            <a:endParaRPr lang="en-US" sz="1150" dirty="0"/>
          </a:p>
          <a:p>
            <a:pPr indent="0" marL="0">
              <a:buNone/>
            </a:pPr>
            <a:r>
              <a:rPr lang="en-US" sz="1150" dirty="0">
                <a:solidFill>
                  <a:srgbClr val="2C2C2C"/>
                </a:solidFill>
                <a:latin typeface="Calibri" pitchFamily="34" charset="0"/>
                <a:ea typeface="Calibri" pitchFamily="34" charset="-122"/>
                <a:cs typeface="Calibri" pitchFamily="34" charset="-120"/>
              </a:rPr>
              <a:t>3. 내 리뷰 리스트 확인 및 수정 (모달)</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3A5F"/>
          </a:solidFill>
          <a:ln w="12700">
            <a:solidFill>
              <a:srgbClr val="1E3A5F"/>
            </a:solidFill>
            <a:prstDash val="solid"/>
          </a:ln>
        </p:spPr>
      </p:sp>
      <p:sp>
        <p:nvSpPr>
          <p:cNvPr id="3" name="Shape 1"/>
          <p:cNvSpPr/>
          <p:nvPr/>
        </p:nvSpPr>
        <p:spPr>
          <a:xfrm>
            <a:off x="0" y="530352"/>
            <a:ext cx="9144000" cy="41148"/>
          </a:xfrm>
          <a:prstGeom prst="rect">
            <a:avLst/>
          </a:prstGeom>
          <a:solidFill>
            <a:srgbClr val="C8A96E"/>
          </a:solidFill>
          <a:ln w="12700">
            <a:solidFill>
              <a:srgbClr val="C8A96E"/>
            </a:solidFill>
            <a:prstDash val="solid"/>
          </a:ln>
        </p:spPr>
      </p:sp>
      <p:sp>
        <p:nvSpPr>
          <p:cNvPr id="4" name="Text 2"/>
          <p:cNvSpPr/>
          <p:nvPr/>
        </p:nvSpPr>
        <p:spPr>
          <a:xfrm>
            <a:off x="365760" y="0"/>
            <a:ext cx="8412480" cy="530352"/>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08  미구현 항목 &amp; 향후 계획</a:t>
            </a:r>
            <a:endParaRPr lang="en-US" sz="2100" dirty="0"/>
          </a:p>
        </p:txBody>
      </p:sp>
      <p:sp>
        <p:nvSpPr>
          <p:cNvPr id="5" name="Shape 3"/>
          <p:cNvSpPr/>
          <p:nvPr/>
        </p:nvSpPr>
        <p:spPr>
          <a:xfrm>
            <a:off x="347472" y="694944"/>
            <a:ext cx="8449056" cy="475488"/>
          </a:xfrm>
          <a:prstGeom prst="rect">
            <a:avLst/>
          </a:prstGeom>
          <a:solidFill>
            <a:srgbClr val="FEF3C7"/>
          </a:solidFill>
          <a:ln w="12700">
            <a:solidFill>
              <a:srgbClr val="EA580C"/>
            </a:solidFill>
            <a:prstDash val="solid"/>
          </a:ln>
        </p:spPr>
      </p:sp>
      <p:sp>
        <p:nvSpPr>
          <p:cNvPr id="6" name="Text 4"/>
          <p:cNvSpPr/>
          <p:nvPr/>
        </p:nvSpPr>
        <p:spPr>
          <a:xfrm>
            <a:off x="347472" y="694944"/>
            <a:ext cx="8449056" cy="475488"/>
          </a:xfrm>
          <a:prstGeom prst="rect">
            <a:avLst/>
          </a:prstGeom>
          <a:noFill/>
          <a:ln/>
        </p:spPr>
        <p:txBody>
          <a:bodyPr wrap="square" lIns="0" tIns="0" rIns="0" bIns="0" rtlCol="0" anchor="ctr"/>
          <a:lstStyle/>
          <a:p>
            <a:pPr algn="ctr" indent="0" marL="0">
              <a:buNone/>
            </a:pPr>
            <a:r>
              <a:rPr lang="en-US" sz="1200" dirty="0">
                <a:solidFill>
                  <a:srgbClr val="92400E"/>
                </a:solidFill>
                <a:latin typeface="Calibri" pitchFamily="34" charset="0"/>
                <a:ea typeface="Calibri" pitchFamily="34" charset="-122"/>
                <a:cs typeface="Calibri" pitchFamily="34" charset="-120"/>
              </a:rPr>
              <a:t>✅ 빌드 / 컴파일 성공  |  핵심 주문 · 결제 흐름 구현 완료  |  아래 항목은 미완성 — 솔직하게 공유합니다</a:t>
            </a:r>
            <a:endParaRPr lang="en-US" sz="1200" dirty="0"/>
          </a:p>
        </p:txBody>
      </p:sp>
      <p:sp>
        <p:nvSpPr>
          <p:cNvPr id="7" name="Shape 5"/>
          <p:cNvSpPr/>
          <p:nvPr/>
        </p:nvSpPr>
        <p:spPr>
          <a:xfrm>
            <a:off x="347472" y="1261872"/>
            <a:ext cx="8449056" cy="402336"/>
          </a:xfrm>
          <a:prstGeom prst="rect">
            <a:avLst/>
          </a:prstGeom>
          <a:solidFill>
            <a:srgbClr val="1E3A5F"/>
          </a:solidFill>
          <a:ln w="12700">
            <a:solidFill>
              <a:srgbClr val="1E3A5F"/>
            </a:solidFill>
            <a:prstDash val="solid"/>
          </a:ln>
        </p:spPr>
      </p:sp>
      <p:sp>
        <p:nvSpPr>
          <p:cNvPr id="8" name="Text 6"/>
          <p:cNvSpPr/>
          <p:nvPr/>
        </p:nvSpPr>
        <p:spPr>
          <a:xfrm>
            <a:off x="457200" y="1261872"/>
            <a:ext cx="82296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우선순위</a:t>
            </a:r>
            <a:endParaRPr lang="en-US" sz="1200" dirty="0"/>
          </a:p>
        </p:txBody>
      </p:sp>
      <p:sp>
        <p:nvSpPr>
          <p:cNvPr id="9" name="Text 7"/>
          <p:cNvSpPr/>
          <p:nvPr/>
        </p:nvSpPr>
        <p:spPr>
          <a:xfrm>
            <a:off x="1389888" y="1261872"/>
            <a:ext cx="292608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미구현 항목</a:t>
            </a:r>
            <a:endParaRPr lang="en-US" sz="1200" dirty="0"/>
          </a:p>
        </p:txBody>
      </p:sp>
      <p:sp>
        <p:nvSpPr>
          <p:cNvPr id="10" name="Text 8"/>
          <p:cNvSpPr/>
          <p:nvPr/>
        </p:nvSpPr>
        <p:spPr>
          <a:xfrm>
            <a:off x="4407408" y="1261872"/>
            <a:ext cx="237744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현재 상태</a:t>
            </a:r>
            <a:endParaRPr lang="en-US" sz="1200" dirty="0"/>
          </a:p>
        </p:txBody>
      </p:sp>
      <p:sp>
        <p:nvSpPr>
          <p:cNvPr id="11" name="Text 9"/>
          <p:cNvSpPr/>
          <p:nvPr/>
        </p:nvSpPr>
        <p:spPr>
          <a:xfrm>
            <a:off x="6858000" y="1261872"/>
            <a:ext cx="1783080" cy="40233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영향도</a:t>
            </a:r>
            <a:endParaRPr lang="en-US" sz="1200" dirty="0"/>
          </a:p>
        </p:txBody>
      </p:sp>
      <p:sp>
        <p:nvSpPr>
          <p:cNvPr id="12" name="Shape 10"/>
          <p:cNvSpPr/>
          <p:nvPr/>
        </p:nvSpPr>
        <p:spPr>
          <a:xfrm>
            <a:off x="347472" y="1664208"/>
            <a:ext cx="8449056" cy="594360"/>
          </a:xfrm>
          <a:prstGeom prst="rect">
            <a:avLst/>
          </a:prstGeom>
          <a:solidFill>
            <a:srgbClr val="F9FAFB"/>
          </a:solidFill>
          <a:ln w="12700">
            <a:solidFill>
              <a:srgbClr val="E5E7EB"/>
            </a:solidFill>
            <a:prstDash val="solid"/>
          </a:ln>
        </p:spPr>
      </p:sp>
      <p:sp>
        <p:nvSpPr>
          <p:cNvPr id="13" name="Shape 11"/>
          <p:cNvSpPr/>
          <p:nvPr/>
        </p:nvSpPr>
        <p:spPr>
          <a:xfrm>
            <a:off x="457200" y="1783080"/>
            <a:ext cx="777240" cy="347472"/>
          </a:xfrm>
          <a:prstGeom prst="rect">
            <a:avLst/>
          </a:prstGeom>
          <a:solidFill>
            <a:srgbClr val="DC2626"/>
          </a:solidFill>
          <a:ln w="12700">
            <a:solidFill>
              <a:srgbClr val="DC2626"/>
            </a:solidFill>
            <a:prstDash val="solid"/>
          </a:ln>
        </p:spPr>
      </p:sp>
      <p:sp>
        <p:nvSpPr>
          <p:cNvPr id="14" name="Text 12"/>
          <p:cNvSpPr/>
          <p:nvPr/>
        </p:nvSpPr>
        <p:spPr>
          <a:xfrm>
            <a:off x="457200" y="1783080"/>
            <a:ext cx="777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높음</a:t>
            </a:r>
            <a:endParaRPr lang="en-US" sz="1100" dirty="0"/>
          </a:p>
        </p:txBody>
      </p:sp>
      <p:sp>
        <p:nvSpPr>
          <p:cNvPr id="15" name="Text 13"/>
          <p:cNvSpPr/>
          <p:nvPr/>
        </p:nvSpPr>
        <p:spPr>
          <a:xfrm>
            <a:off x="1389888" y="1755648"/>
            <a:ext cx="2926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네이버페이 실결제 정식 연동</a:t>
            </a:r>
            <a:endParaRPr lang="en-US" sz="1200" dirty="0"/>
          </a:p>
        </p:txBody>
      </p:sp>
      <p:sp>
        <p:nvSpPr>
          <p:cNvPr id="16" name="Text 14"/>
          <p:cNvSpPr/>
          <p:nvPr/>
        </p:nvSpPr>
        <p:spPr>
          <a:xfrm>
            <a:off x="4407408" y="1755648"/>
            <a:ext cx="237744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샌드박스 / 임시 흐름</a:t>
            </a:r>
            <a:endParaRPr lang="en-US" sz="1200" dirty="0"/>
          </a:p>
        </p:txBody>
      </p:sp>
      <p:sp>
        <p:nvSpPr>
          <p:cNvPr id="17" name="Text 15"/>
          <p:cNvSpPr/>
          <p:nvPr/>
        </p:nvSpPr>
        <p:spPr>
          <a:xfrm>
            <a:off x="6858000" y="1755648"/>
            <a:ext cx="1783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운영 결제 불가</a:t>
            </a:r>
            <a:endParaRPr lang="en-US" sz="1200" dirty="0"/>
          </a:p>
        </p:txBody>
      </p:sp>
      <p:sp>
        <p:nvSpPr>
          <p:cNvPr id="18" name="Shape 16"/>
          <p:cNvSpPr/>
          <p:nvPr/>
        </p:nvSpPr>
        <p:spPr>
          <a:xfrm>
            <a:off x="347472" y="2286000"/>
            <a:ext cx="8449056" cy="594360"/>
          </a:xfrm>
          <a:prstGeom prst="rect">
            <a:avLst/>
          </a:prstGeom>
          <a:solidFill>
            <a:srgbClr val="FFFFFF"/>
          </a:solidFill>
          <a:ln w="12700">
            <a:solidFill>
              <a:srgbClr val="E5E7EB"/>
            </a:solidFill>
            <a:prstDash val="solid"/>
          </a:ln>
        </p:spPr>
      </p:sp>
      <p:sp>
        <p:nvSpPr>
          <p:cNvPr id="19" name="Shape 17"/>
          <p:cNvSpPr/>
          <p:nvPr/>
        </p:nvSpPr>
        <p:spPr>
          <a:xfrm>
            <a:off x="457200" y="2404872"/>
            <a:ext cx="777240" cy="347472"/>
          </a:xfrm>
          <a:prstGeom prst="rect">
            <a:avLst/>
          </a:prstGeom>
          <a:solidFill>
            <a:srgbClr val="EA580C"/>
          </a:solidFill>
          <a:ln w="12700">
            <a:solidFill>
              <a:srgbClr val="EA580C"/>
            </a:solidFill>
            <a:prstDash val="solid"/>
          </a:ln>
        </p:spPr>
      </p:sp>
      <p:sp>
        <p:nvSpPr>
          <p:cNvPr id="20" name="Text 18"/>
          <p:cNvSpPr/>
          <p:nvPr/>
        </p:nvSpPr>
        <p:spPr>
          <a:xfrm>
            <a:off x="457200" y="2404872"/>
            <a:ext cx="777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중간</a:t>
            </a:r>
            <a:endParaRPr lang="en-US" sz="1100" dirty="0"/>
          </a:p>
        </p:txBody>
      </p:sp>
      <p:sp>
        <p:nvSpPr>
          <p:cNvPr id="21" name="Text 19"/>
          <p:cNvSpPr/>
          <p:nvPr/>
        </p:nvSpPr>
        <p:spPr>
          <a:xfrm>
            <a:off x="1389888" y="2377440"/>
            <a:ext cx="2926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관리자 주문 일괄 상태 변경 UI</a:t>
            </a:r>
            <a:endParaRPr lang="en-US" sz="1200" dirty="0"/>
          </a:p>
        </p:txBody>
      </p:sp>
      <p:sp>
        <p:nvSpPr>
          <p:cNvPr id="22" name="Text 20"/>
          <p:cNvSpPr/>
          <p:nvPr/>
        </p:nvSpPr>
        <p:spPr>
          <a:xfrm>
            <a:off x="4407408" y="2377440"/>
            <a:ext cx="237744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일괄 승인만 가능</a:t>
            </a:r>
            <a:endParaRPr lang="en-US" sz="1200" dirty="0"/>
          </a:p>
        </p:txBody>
      </p:sp>
      <p:sp>
        <p:nvSpPr>
          <p:cNvPr id="23" name="Text 21"/>
          <p:cNvSpPr/>
          <p:nvPr/>
        </p:nvSpPr>
        <p:spPr>
          <a:xfrm>
            <a:off x="6858000" y="2377440"/>
            <a:ext cx="1783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운영 효율 제한</a:t>
            </a:r>
            <a:endParaRPr lang="en-US" sz="1200" dirty="0"/>
          </a:p>
        </p:txBody>
      </p:sp>
      <p:sp>
        <p:nvSpPr>
          <p:cNvPr id="24" name="Shape 22"/>
          <p:cNvSpPr/>
          <p:nvPr/>
        </p:nvSpPr>
        <p:spPr>
          <a:xfrm>
            <a:off x="347472" y="2907792"/>
            <a:ext cx="8449056" cy="594360"/>
          </a:xfrm>
          <a:prstGeom prst="rect">
            <a:avLst/>
          </a:prstGeom>
          <a:solidFill>
            <a:srgbClr val="F9FAFB"/>
          </a:solidFill>
          <a:ln w="12700">
            <a:solidFill>
              <a:srgbClr val="E5E7EB"/>
            </a:solidFill>
            <a:prstDash val="solid"/>
          </a:ln>
        </p:spPr>
      </p:sp>
      <p:sp>
        <p:nvSpPr>
          <p:cNvPr id="25" name="Shape 23"/>
          <p:cNvSpPr/>
          <p:nvPr/>
        </p:nvSpPr>
        <p:spPr>
          <a:xfrm>
            <a:off x="457200" y="3026664"/>
            <a:ext cx="777240" cy="347472"/>
          </a:xfrm>
          <a:prstGeom prst="rect">
            <a:avLst/>
          </a:prstGeom>
          <a:solidFill>
            <a:srgbClr val="EA580C"/>
          </a:solidFill>
          <a:ln w="12700">
            <a:solidFill>
              <a:srgbClr val="EA580C"/>
            </a:solidFill>
            <a:prstDash val="solid"/>
          </a:ln>
        </p:spPr>
      </p:sp>
      <p:sp>
        <p:nvSpPr>
          <p:cNvPr id="26" name="Text 24"/>
          <p:cNvSpPr/>
          <p:nvPr/>
        </p:nvSpPr>
        <p:spPr>
          <a:xfrm>
            <a:off x="457200" y="3026664"/>
            <a:ext cx="777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중간</a:t>
            </a:r>
            <a:endParaRPr lang="en-US" sz="1100" dirty="0"/>
          </a:p>
        </p:txBody>
      </p:sp>
      <p:sp>
        <p:nvSpPr>
          <p:cNvPr id="27" name="Text 25"/>
          <p:cNvSpPr/>
          <p:nvPr/>
        </p:nvSpPr>
        <p:spPr>
          <a:xfrm>
            <a:off x="1389888" y="2999232"/>
            <a:ext cx="2926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관리자 주문 승인 화면 통합</a:t>
            </a:r>
            <a:endParaRPr lang="en-US" sz="1200" dirty="0"/>
          </a:p>
        </p:txBody>
      </p:sp>
      <p:sp>
        <p:nvSpPr>
          <p:cNvPr id="28" name="Text 26"/>
          <p:cNvSpPr/>
          <p:nvPr/>
        </p:nvSpPr>
        <p:spPr>
          <a:xfrm>
            <a:off x="4407408" y="2999232"/>
            <a:ext cx="237744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2개 화면 이중화</a:t>
            </a:r>
            <a:endParaRPr lang="en-US" sz="1200" dirty="0"/>
          </a:p>
        </p:txBody>
      </p:sp>
      <p:sp>
        <p:nvSpPr>
          <p:cNvPr id="29" name="Text 27"/>
          <p:cNvSpPr/>
          <p:nvPr/>
        </p:nvSpPr>
        <p:spPr>
          <a:xfrm>
            <a:off x="6858000" y="2999232"/>
            <a:ext cx="1783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유지보수 혼선</a:t>
            </a:r>
            <a:endParaRPr lang="en-US" sz="1200" dirty="0"/>
          </a:p>
        </p:txBody>
      </p:sp>
      <p:sp>
        <p:nvSpPr>
          <p:cNvPr id="30" name="Shape 28"/>
          <p:cNvSpPr/>
          <p:nvPr/>
        </p:nvSpPr>
        <p:spPr>
          <a:xfrm>
            <a:off x="347472" y="3529584"/>
            <a:ext cx="8449056" cy="594360"/>
          </a:xfrm>
          <a:prstGeom prst="rect">
            <a:avLst/>
          </a:prstGeom>
          <a:solidFill>
            <a:srgbClr val="FFFFFF"/>
          </a:solidFill>
          <a:ln w="12700">
            <a:solidFill>
              <a:srgbClr val="E5E7EB"/>
            </a:solidFill>
            <a:prstDash val="solid"/>
          </a:ln>
        </p:spPr>
      </p:sp>
      <p:sp>
        <p:nvSpPr>
          <p:cNvPr id="31" name="Shape 29"/>
          <p:cNvSpPr/>
          <p:nvPr/>
        </p:nvSpPr>
        <p:spPr>
          <a:xfrm>
            <a:off x="457200" y="3648456"/>
            <a:ext cx="777240" cy="347472"/>
          </a:xfrm>
          <a:prstGeom prst="rect">
            <a:avLst/>
          </a:prstGeom>
          <a:solidFill>
            <a:srgbClr val="EA580C"/>
          </a:solidFill>
          <a:ln w="12700">
            <a:solidFill>
              <a:srgbClr val="EA580C"/>
            </a:solidFill>
            <a:prstDash val="solid"/>
          </a:ln>
        </p:spPr>
      </p:sp>
      <p:sp>
        <p:nvSpPr>
          <p:cNvPr id="32" name="Text 30"/>
          <p:cNvSpPr/>
          <p:nvPr/>
        </p:nvSpPr>
        <p:spPr>
          <a:xfrm>
            <a:off x="457200" y="3648456"/>
            <a:ext cx="777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중간</a:t>
            </a:r>
            <a:endParaRPr lang="en-US" sz="1100" dirty="0"/>
          </a:p>
        </p:txBody>
      </p:sp>
      <p:sp>
        <p:nvSpPr>
          <p:cNvPr id="33" name="Text 31"/>
          <p:cNvSpPr/>
          <p:nvPr/>
        </p:nvSpPr>
        <p:spPr>
          <a:xfrm>
            <a:off x="1389888" y="3621024"/>
            <a:ext cx="2926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사이드바 카테고리 API 연동</a:t>
            </a:r>
            <a:endParaRPr lang="en-US" sz="1200" dirty="0"/>
          </a:p>
        </p:txBody>
      </p:sp>
      <p:sp>
        <p:nvSpPr>
          <p:cNvPr id="34" name="Text 32"/>
          <p:cNvSpPr/>
          <p:nvPr/>
        </p:nvSpPr>
        <p:spPr>
          <a:xfrm>
            <a:off x="4407408" y="3621024"/>
            <a:ext cx="237744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하드코딩 배열</a:t>
            </a:r>
            <a:endParaRPr lang="en-US" sz="1200" dirty="0"/>
          </a:p>
        </p:txBody>
      </p:sp>
      <p:sp>
        <p:nvSpPr>
          <p:cNvPr id="35" name="Text 33"/>
          <p:cNvSpPr/>
          <p:nvPr/>
        </p:nvSpPr>
        <p:spPr>
          <a:xfrm>
            <a:off x="6858000" y="3621024"/>
            <a:ext cx="1783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관리자 변경 미반영</a:t>
            </a:r>
            <a:endParaRPr lang="en-US" sz="1200" dirty="0"/>
          </a:p>
        </p:txBody>
      </p:sp>
      <p:sp>
        <p:nvSpPr>
          <p:cNvPr id="36" name="Shape 34"/>
          <p:cNvSpPr/>
          <p:nvPr/>
        </p:nvSpPr>
        <p:spPr>
          <a:xfrm>
            <a:off x="347472" y="4151376"/>
            <a:ext cx="8449056" cy="594360"/>
          </a:xfrm>
          <a:prstGeom prst="rect">
            <a:avLst/>
          </a:prstGeom>
          <a:solidFill>
            <a:srgbClr val="F9FAFB"/>
          </a:solidFill>
          <a:ln w="12700">
            <a:solidFill>
              <a:srgbClr val="E5E7EB"/>
            </a:solidFill>
            <a:prstDash val="solid"/>
          </a:ln>
        </p:spPr>
      </p:sp>
      <p:sp>
        <p:nvSpPr>
          <p:cNvPr id="37" name="Shape 35"/>
          <p:cNvSpPr/>
          <p:nvPr/>
        </p:nvSpPr>
        <p:spPr>
          <a:xfrm>
            <a:off x="457200" y="4270248"/>
            <a:ext cx="777240" cy="347472"/>
          </a:xfrm>
          <a:prstGeom prst="rect">
            <a:avLst/>
          </a:prstGeom>
          <a:solidFill>
            <a:srgbClr val="6B7280"/>
          </a:solidFill>
          <a:ln w="12700">
            <a:solidFill>
              <a:srgbClr val="6B7280"/>
            </a:solidFill>
            <a:prstDash val="solid"/>
          </a:ln>
        </p:spPr>
      </p:sp>
      <p:sp>
        <p:nvSpPr>
          <p:cNvPr id="38" name="Text 36"/>
          <p:cNvSpPr/>
          <p:nvPr/>
        </p:nvSpPr>
        <p:spPr>
          <a:xfrm>
            <a:off x="457200" y="4270248"/>
            <a:ext cx="777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낮음</a:t>
            </a:r>
            <a:endParaRPr lang="en-US" sz="1100" dirty="0"/>
          </a:p>
        </p:txBody>
      </p:sp>
      <p:sp>
        <p:nvSpPr>
          <p:cNvPr id="39" name="Text 37"/>
          <p:cNvSpPr/>
          <p:nvPr/>
        </p:nvSpPr>
        <p:spPr>
          <a:xfrm>
            <a:off x="1389888" y="4242816"/>
            <a:ext cx="2926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비밀번호 재설정 보안 강화</a:t>
            </a:r>
            <a:endParaRPr lang="en-US" sz="1200" dirty="0"/>
          </a:p>
        </p:txBody>
      </p:sp>
      <p:sp>
        <p:nvSpPr>
          <p:cNvPr id="40" name="Text 38"/>
          <p:cNvSpPr/>
          <p:nvPr/>
        </p:nvSpPr>
        <p:spPr>
          <a:xfrm>
            <a:off x="4407408" y="4242816"/>
            <a:ext cx="237744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이메일 인증 없이 재설정 가능</a:t>
            </a:r>
            <a:endParaRPr lang="en-US" sz="1200" dirty="0"/>
          </a:p>
        </p:txBody>
      </p:sp>
      <p:sp>
        <p:nvSpPr>
          <p:cNvPr id="41" name="Text 39"/>
          <p:cNvSpPr/>
          <p:nvPr/>
        </p:nvSpPr>
        <p:spPr>
          <a:xfrm>
            <a:off x="6858000" y="4242816"/>
            <a:ext cx="1783080" cy="457200"/>
          </a:xfrm>
          <a:prstGeom prst="rect">
            <a:avLst/>
          </a:prstGeom>
          <a:noFill/>
          <a:ln/>
        </p:spPr>
        <p:txBody>
          <a:bodyPr wrap="square" lIns="0" tIns="0" rIns="0" bIns="0" rtlCol="0" anchor="ctr"/>
          <a:lstStyle/>
          <a:p>
            <a:pPr indent="0" marL="0">
              <a:buNone/>
            </a:pPr>
            <a:r>
              <a:rPr lang="en-US" sz="1200" dirty="0">
                <a:solidFill>
                  <a:srgbClr val="2C2C2C"/>
                </a:solidFill>
                <a:latin typeface="Calibri" pitchFamily="34" charset="0"/>
                <a:ea typeface="Calibri" pitchFamily="34" charset="-122"/>
                <a:cs typeface="Calibri" pitchFamily="34" charset="-120"/>
              </a:rPr>
              <a:t>실서비스 보안 취약</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E"/>
          </a:solidFill>
          <a:ln w="12700">
            <a:solidFill>
              <a:srgbClr val="C8A96E"/>
            </a:solidFill>
            <a:prstDash val="solid"/>
          </a:ln>
        </p:spPr>
      </p:sp>
      <p:sp>
        <p:nvSpPr>
          <p:cNvPr id="3" name="Text 1"/>
          <p:cNvSpPr/>
          <p:nvPr/>
        </p:nvSpPr>
        <p:spPr>
          <a:xfrm>
            <a:off x="457200" y="182880"/>
            <a:ext cx="8229600" cy="658368"/>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09  예상 Q &amp; A</a:t>
            </a:r>
            <a:endParaRPr lang="en-US" sz="2800" dirty="0"/>
          </a:p>
        </p:txBody>
      </p:sp>
      <p:sp>
        <p:nvSpPr>
          <p:cNvPr id="4" name="Text 2"/>
          <p:cNvSpPr/>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현직자 기준 예상 질문 및 준비 답변 (1 / 2)</a:t>
            </a:r>
            <a:endParaRPr lang="en-US" sz="1300" dirty="0"/>
          </a:p>
        </p:txBody>
      </p:sp>
      <p:sp>
        <p:nvSpPr>
          <p:cNvPr id="5" name="Shape 3"/>
          <p:cNvSpPr/>
          <p:nvPr/>
        </p:nvSpPr>
        <p:spPr>
          <a:xfrm>
            <a:off x="347472" y="1207008"/>
            <a:ext cx="8449056" cy="1170432"/>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347472" y="1207008"/>
            <a:ext cx="64008" cy="1170432"/>
          </a:xfrm>
          <a:prstGeom prst="rect">
            <a:avLst/>
          </a:prstGeom>
          <a:solidFill>
            <a:srgbClr val="C8A96E"/>
          </a:solidFill>
          <a:ln w="12700">
            <a:solidFill>
              <a:srgbClr val="C8A96E"/>
            </a:solidFill>
            <a:prstDash val="solid"/>
          </a:ln>
        </p:spPr>
      </p:sp>
      <p:sp>
        <p:nvSpPr>
          <p:cNvPr id="7" name="Text 5"/>
          <p:cNvSpPr/>
          <p:nvPr/>
        </p:nvSpPr>
        <p:spPr>
          <a:xfrm>
            <a:off x="530352" y="1298448"/>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Q1. 네이버페이가 미완성인데, 발표 전에 완성하지 못한 이유는 무엇인가요?</a:t>
            </a:r>
            <a:endParaRPr lang="en-US" sz="1250" dirty="0"/>
          </a:p>
        </p:txBody>
      </p:sp>
      <p:sp>
        <p:nvSpPr>
          <p:cNvPr id="8" name="Text 6"/>
          <p:cNvSpPr/>
          <p:nvPr/>
        </p:nvSpPr>
        <p:spPr>
          <a:xfrm>
            <a:off x="530352" y="1645920"/>
            <a:ext cx="8138160" cy="694944"/>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네이버 결제 준비 단계에서 paymentId를 실제로 발급받지 않고 orderId를 임시로 사용하고 있습니다. 공식 스펙 기준의 ready → approve → cancel 흐름 재정리와 샌드박스/운영 환경 분리까지 필요한 작업으로, 1개월 기간 내 완성하지 못했습니다. 향후 1순위로 보완할 예정입니다.</a:t>
            </a:r>
            <a:endParaRPr lang="en-US" sz="1150" dirty="0"/>
          </a:p>
        </p:txBody>
      </p:sp>
      <p:sp>
        <p:nvSpPr>
          <p:cNvPr id="9" name="Shape 7"/>
          <p:cNvSpPr/>
          <p:nvPr/>
        </p:nvSpPr>
        <p:spPr>
          <a:xfrm>
            <a:off x="347472" y="2468880"/>
            <a:ext cx="8449056" cy="1170432"/>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10" name="Shape 8"/>
          <p:cNvSpPr/>
          <p:nvPr/>
        </p:nvSpPr>
        <p:spPr>
          <a:xfrm>
            <a:off x="347472" y="2468880"/>
            <a:ext cx="64008" cy="1170432"/>
          </a:xfrm>
          <a:prstGeom prst="rect">
            <a:avLst/>
          </a:prstGeom>
          <a:solidFill>
            <a:srgbClr val="C8A96E"/>
          </a:solidFill>
          <a:ln w="12700">
            <a:solidFill>
              <a:srgbClr val="C8A96E"/>
            </a:solidFill>
            <a:prstDash val="solid"/>
          </a:ln>
        </p:spPr>
      </p:sp>
      <p:sp>
        <p:nvSpPr>
          <p:cNvPr id="11" name="Text 9"/>
          <p:cNvSpPr/>
          <p:nvPr/>
        </p:nvSpPr>
        <p:spPr>
          <a:xfrm>
            <a:off x="530352" y="2560320"/>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Q2. 비밀번호 재설정에 이메일 인증이 없다면 보안상 취약하지 않나요?</a:t>
            </a:r>
            <a:endParaRPr lang="en-US" sz="1250" dirty="0"/>
          </a:p>
        </p:txBody>
      </p:sp>
      <p:sp>
        <p:nvSpPr>
          <p:cNvPr id="12" name="Text 10"/>
          <p:cNvSpPr/>
          <p:nvPr/>
        </p:nvSpPr>
        <p:spPr>
          <a:xfrm>
            <a:off x="530352" y="2907792"/>
            <a:ext cx="8138160" cy="694944"/>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맞습니다. 현재는 이메일 인증 없이 재설정이 가능한 임시 구현으로, 실서비스 기준에서는 취약합니다. 이메일 인증 코드 발송 및 토큰 기반 재설정 링크 만료 처리를 추가하여 보완할 계획입니다.</a:t>
            </a:r>
            <a:endParaRPr lang="en-US" sz="1150" dirty="0"/>
          </a:p>
        </p:txBody>
      </p:sp>
      <p:sp>
        <p:nvSpPr>
          <p:cNvPr id="13" name="Shape 11"/>
          <p:cNvSpPr/>
          <p:nvPr/>
        </p:nvSpPr>
        <p:spPr>
          <a:xfrm>
            <a:off x="347472" y="3730752"/>
            <a:ext cx="8449056" cy="1170432"/>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14" name="Shape 12"/>
          <p:cNvSpPr/>
          <p:nvPr/>
        </p:nvSpPr>
        <p:spPr>
          <a:xfrm>
            <a:off x="347472" y="3730752"/>
            <a:ext cx="64008" cy="1170432"/>
          </a:xfrm>
          <a:prstGeom prst="rect">
            <a:avLst/>
          </a:prstGeom>
          <a:solidFill>
            <a:srgbClr val="C8A96E"/>
          </a:solidFill>
          <a:ln w="12700">
            <a:solidFill>
              <a:srgbClr val="C8A96E"/>
            </a:solidFill>
            <a:prstDash val="solid"/>
          </a:ln>
        </p:spPr>
      </p:sp>
      <p:sp>
        <p:nvSpPr>
          <p:cNvPr id="15" name="Text 13"/>
          <p:cNvSpPr/>
          <p:nvPr/>
        </p:nvSpPr>
        <p:spPr>
          <a:xfrm>
            <a:off x="530352" y="3822192"/>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Q3. 사이드바 카테고리가 하드코딩이면 관리자 카테고리 기능이 의미가 있나요?</a:t>
            </a:r>
            <a:endParaRPr lang="en-US" sz="1250" dirty="0"/>
          </a:p>
        </p:txBody>
      </p:sp>
      <p:sp>
        <p:nvSpPr>
          <p:cNvPr id="16" name="Text 14"/>
          <p:cNvSpPr/>
          <p:nvPr/>
        </p:nvSpPr>
        <p:spPr>
          <a:xfrm>
            <a:off x="530352" y="4169664"/>
            <a:ext cx="8138160" cy="694944"/>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관리자 카테고리 CRUD는 API와 정상 연동되어 DB에 저장됩니다. 다만 사용자 메인 사이드바가 API를 호출하지 않고 하드코딩 배열을 사용 중이라 자동 반영이 안 됩니다. 사이드바를 카테고리 API 기반으로 변경하는 작업을 2순위로 보완할 예정입니다.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E"/>
          </a:solidFill>
          <a:ln w="12700">
            <a:solidFill>
              <a:srgbClr val="C8A96E"/>
            </a:solidFill>
            <a:prstDash val="solid"/>
          </a:ln>
        </p:spPr>
      </p:sp>
      <p:sp>
        <p:nvSpPr>
          <p:cNvPr id="3" name="Text 1"/>
          <p:cNvSpPr/>
          <p:nvPr/>
        </p:nvSpPr>
        <p:spPr>
          <a:xfrm>
            <a:off x="457200" y="182880"/>
            <a:ext cx="8229600" cy="658368"/>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09  예상 Q &amp; A</a:t>
            </a:r>
            <a:endParaRPr lang="en-US" sz="2800" dirty="0"/>
          </a:p>
        </p:txBody>
      </p:sp>
      <p:sp>
        <p:nvSpPr>
          <p:cNvPr id="4" name="Text 2"/>
          <p:cNvSpPr/>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현직자 기준 예상 질문 및 준비 답변 (2 / 2)</a:t>
            </a:r>
            <a:endParaRPr lang="en-US" sz="1300" dirty="0"/>
          </a:p>
        </p:txBody>
      </p:sp>
      <p:sp>
        <p:nvSpPr>
          <p:cNvPr id="5" name="Shape 3"/>
          <p:cNvSpPr/>
          <p:nvPr/>
        </p:nvSpPr>
        <p:spPr>
          <a:xfrm>
            <a:off x="347472" y="1207008"/>
            <a:ext cx="8449056" cy="1207008"/>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6" name="Shape 4"/>
          <p:cNvSpPr/>
          <p:nvPr/>
        </p:nvSpPr>
        <p:spPr>
          <a:xfrm>
            <a:off x="347472" y="1207008"/>
            <a:ext cx="64008" cy="1207008"/>
          </a:xfrm>
          <a:prstGeom prst="rect">
            <a:avLst/>
          </a:prstGeom>
          <a:solidFill>
            <a:srgbClr val="C8A96E"/>
          </a:solidFill>
          <a:ln w="12700">
            <a:solidFill>
              <a:srgbClr val="C8A96E"/>
            </a:solidFill>
            <a:prstDash val="solid"/>
          </a:ln>
        </p:spPr>
      </p:sp>
      <p:sp>
        <p:nvSpPr>
          <p:cNvPr id="7" name="Text 5"/>
          <p:cNvSpPr/>
          <p:nvPr/>
        </p:nvSpPr>
        <p:spPr>
          <a:xfrm>
            <a:off x="530352" y="1298448"/>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Q4. JPA N+1 문제는 인지하고 있나요? 어떻게 해결했나요?</a:t>
            </a:r>
            <a:endParaRPr lang="en-US" sz="1250" dirty="0"/>
          </a:p>
        </p:txBody>
      </p:sp>
      <p:sp>
        <p:nvSpPr>
          <p:cNvPr id="8" name="Text 6"/>
          <p:cNvSpPr/>
          <p:nvPr/>
        </p:nvSpPr>
        <p:spPr>
          <a:xfrm>
            <a:off x="530352" y="1664208"/>
            <a:ext cx="8138160" cy="713232"/>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N+1 문제가 발생할 수 있는 지점을 인지하고 있습니다. 일부 조회에 fetch join을 적용했으나, 전체 커버리지가 부족합니다. 향후 @BatchSize 적용 또는 QueryDSL 도입을 통해 보완할 계획입니다.</a:t>
            </a:r>
            <a:endParaRPr lang="en-US" sz="1150" dirty="0"/>
          </a:p>
        </p:txBody>
      </p:sp>
      <p:sp>
        <p:nvSpPr>
          <p:cNvPr id="9" name="Shape 7"/>
          <p:cNvSpPr/>
          <p:nvPr/>
        </p:nvSpPr>
        <p:spPr>
          <a:xfrm>
            <a:off x="347472" y="2505456"/>
            <a:ext cx="8449056" cy="1207008"/>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10" name="Shape 8"/>
          <p:cNvSpPr/>
          <p:nvPr/>
        </p:nvSpPr>
        <p:spPr>
          <a:xfrm>
            <a:off x="347472" y="2505456"/>
            <a:ext cx="64008" cy="1207008"/>
          </a:xfrm>
          <a:prstGeom prst="rect">
            <a:avLst/>
          </a:prstGeom>
          <a:solidFill>
            <a:srgbClr val="C8A96E"/>
          </a:solidFill>
          <a:ln w="12700">
            <a:solidFill>
              <a:srgbClr val="C8A96E"/>
            </a:solidFill>
            <a:prstDash val="solid"/>
          </a:ln>
        </p:spPr>
      </p:sp>
      <p:sp>
        <p:nvSpPr>
          <p:cNvPr id="11" name="Text 9"/>
          <p:cNvSpPr/>
          <p:nvPr/>
        </p:nvSpPr>
        <p:spPr>
          <a:xfrm>
            <a:off x="530352" y="2596896"/>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Q5. 재고 부족 주문은 어떻게 처리하나요?</a:t>
            </a:r>
            <a:endParaRPr lang="en-US" sz="1250" dirty="0"/>
          </a:p>
        </p:txBody>
      </p:sp>
      <p:sp>
        <p:nvSpPr>
          <p:cNvPr id="12" name="Text 10"/>
          <p:cNvSpPr/>
          <p:nvPr/>
        </p:nvSpPr>
        <p:spPr>
          <a:xfrm>
            <a:off x="530352" y="2962656"/>
            <a:ext cx="8138160" cy="713232"/>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관리자 주문 목록에서 '현재 재고 &lt; 주문 수량' 조건으로 재고 부족 주문을 필터링하고 배지로 표시합니다. 해당 주문만 선택하여 일괄 취소할 수 있으며, 결제 완료 주문은 자동으로 환불 처리까지 연계됩니다.</a:t>
            </a:r>
            <a:endParaRPr lang="en-US" sz="1150" dirty="0"/>
          </a:p>
        </p:txBody>
      </p:sp>
      <p:sp>
        <p:nvSpPr>
          <p:cNvPr id="13" name="Shape 11"/>
          <p:cNvSpPr/>
          <p:nvPr/>
        </p:nvSpPr>
        <p:spPr>
          <a:xfrm>
            <a:off x="347472" y="3803904"/>
            <a:ext cx="8449056" cy="1207008"/>
          </a:xfrm>
          <a:prstGeom prst="rect">
            <a:avLst/>
          </a:prstGeom>
          <a:solidFill>
            <a:srgbClr val="1A3050"/>
          </a:solidFill>
          <a:ln w="12700">
            <a:solidFill>
              <a:srgbClr val="2A4570"/>
            </a:solidFill>
            <a:prstDash val="solid"/>
          </a:ln>
          <a:effectLst>
            <a:outerShdw sx="100000" sy="100000" kx="0" ky="0" algn="bl" rotWithShape="0" blurRad="88900" dist="25400" dir="8100000">
              <a:srgbClr val="000000">
                <a:alpha val="13000"/>
              </a:srgbClr>
            </a:outerShdw>
          </a:effectLst>
        </p:spPr>
      </p:sp>
      <p:sp>
        <p:nvSpPr>
          <p:cNvPr id="14" name="Shape 12"/>
          <p:cNvSpPr/>
          <p:nvPr/>
        </p:nvSpPr>
        <p:spPr>
          <a:xfrm>
            <a:off x="347472" y="3803904"/>
            <a:ext cx="64008" cy="1207008"/>
          </a:xfrm>
          <a:prstGeom prst="rect">
            <a:avLst/>
          </a:prstGeom>
          <a:solidFill>
            <a:srgbClr val="C8A96E"/>
          </a:solidFill>
          <a:ln w="12700">
            <a:solidFill>
              <a:srgbClr val="C8A96E"/>
            </a:solidFill>
            <a:prstDash val="solid"/>
          </a:ln>
        </p:spPr>
      </p:sp>
      <p:sp>
        <p:nvSpPr>
          <p:cNvPr id="15" name="Text 13"/>
          <p:cNvSpPr/>
          <p:nvPr/>
        </p:nvSpPr>
        <p:spPr>
          <a:xfrm>
            <a:off x="530352" y="3895344"/>
            <a:ext cx="8138160" cy="329184"/>
          </a:xfrm>
          <a:prstGeom prst="rect">
            <a:avLst/>
          </a:prstGeom>
          <a:noFill/>
          <a:ln/>
        </p:spPr>
        <p:txBody>
          <a:bodyPr wrap="square" lIns="0" tIns="0" rIns="0" bIns="0" rtlCol="0" anchor="ctr"/>
          <a:lstStyle/>
          <a:p>
            <a:pPr indent="0" marL="0">
              <a:buNone/>
            </a:pPr>
            <a:r>
              <a:rPr lang="en-US" sz="1250" b="1" dirty="0">
                <a:solidFill>
                  <a:srgbClr val="C8A96E"/>
                </a:solidFill>
                <a:latin typeface="Calibri" pitchFamily="34" charset="0"/>
                <a:ea typeface="Calibri" pitchFamily="34" charset="-122"/>
                <a:cs typeface="Calibri" pitchFamily="34" charset="-120"/>
              </a:rPr>
              <a:t>Q6. 1개월 만에 팀 개발을 하면서 가장 어려웠던 점은?</a:t>
            </a:r>
            <a:endParaRPr lang="en-US" sz="1250" dirty="0"/>
          </a:p>
        </p:txBody>
      </p:sp>
      <p:sp>
        <p:nvSpPr>
          <p:cNvPr id="16" name="Text 14"/>
          <p:cNvSpPr/>
          <p:nvPr/>
        </p:nvSpPr>
        <p:spPr>
          <a:xfrm>
            <a:off x="530352" y="4261104"/>
            <a:ext cx="8138160" cy="713232"/>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결제 완료와 배송 시작 시점을 분리하고, 주문/배송/결제 세 상태를 일관되게 연결하는 설계가 가장 어려웠습니다. 프론트와 백엔드 상태 기준이 달라 혼선이 생기는 부분을 하나씩 맞춰가는 과정에서 실무 협업의 어려움을 체감했고, 많이 배웠습니다.</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A96E"/>
          </a:solidFill>
          <a:ln w="12700">
            <a:solidFill>
              <a:srgbClr val="C8A96E"/>
            </a:solidFill>
            <a:prstDash val="solid"/>
          </a:ln>
        </p:spPr>
      </p:sp>
      <p:sp>
        <p:nvSpPr>
          <p:cNvPr id="3" name="Shape 1"/>
          <p:cNvSpPr/>
          <p:nvPr/>
        </p:nvSpPr>
        <p:spPr>
          <a:xfrm>
            <a:off x="0" y="5070348"/>
            <a:ext cx="9144000" cy="73152"/>
          </a:xfrm>
          <a:prstGeom prst="rect">
            <a:avLst/>
          </a:prstGeom>
          <a:solidFill>
            <a:srgbClr val="C8A96E"/>
          </a:solidFill>
          <a:ln w="12700">
            <a:solidFill>
              <a:srgbClr val="C8A96E"/>
            </a:solidFill>
            <a:prstDash val="solid"/>
          </a:ln>
        </p:spPr>
      </p:sp>
      <p:sp>
        <p:nvSpPr>
          <p:cNvPr id="4" name="Shape 2"/>
          <p:cNvSpPr/>
          <p:nvPr/>
        </p:nvSpPr>
        <p:spPr>
          <a:xfrm>
            <a:off x="384048" y="777240"/>
            <a:ext cx="64008" cy="4023360"/>
          </a:xfrm>
          <a:prstGeom prst="rect">
            <a:avLst/>
          </a:prstGeom>
          <a:solidFill>
            <a:srgbClr val="C8A96E"/>
          </a:solidFill>
          <a:ln w="12700">
            <a:solidFill>
              <a:srgbClr val="C8A96E"/>
            </a:solidFill>
            <a:prstDash val="solid"/>
          </a:ln>
        </p:spPr>
      </p:sp>
      <p:sp>
        <p:nvSpPr>
          <p:cNvPr id="5" name="Text 3"/>
          <p:cNvSpPr/>
          <p:nvPr/>
        </p:nvSpPr>
        <p:spPr>
          <a:xfrm>
            <a:off x="640080" y="777240"/>
            <a:ext cx="804672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Georgia" pitchFamily="34" charset="0"/>
                <a:ea typeface="Georgia" pitchFamily="34" charset="-122"/>
                <a:cs typeface="Georgia" pitchFamily="34" charset="-120"/>
              </a:rPr>
              <a:t>감사합니다.</a:t>
            </a:r>
            <a:endParaRPr lang="en-US" sz="5400" dirty="0"/>
          </a:p>
        </p:txBody>
      </p:sp>
      <p:sp>
        <p:nvSpPr>
          <p:cNvPr id="6" name="Shape 4"/>
          <p:cNvSpPr/>
          <p:nvPr/>
        </p:nvSpPr>
        <p:spPr>
          <a:xfrm>
            <a:off x="640080" y="1874520"/>
            <a:ext cx="5029200" cy="0"/>
          </a:xfrm>
          <a:prstGeom prst="line">
            <a:avLst/>
          </a:prstGeom>
          <a:noFill/>
          <a:ln w="19050">
            <a:solidFill>
              <a:srgbClr val="C8A96E"/>
            </a:solidFill>
            <a:prstDash val="solid"/>
          </a:ln>
        </p:spPr>
      </p:sp>
      <p:sp>
        <p:nvSpPr>
          <p:cNvPr id="7" name="Text 5"/>
          <p:cNvSpPr/>
          <p:nvPr/>
        </p:nvSpPr>
        <p:spPr>
          <a:xfrm>
            <a:off x="640080" y="1993392"/>
            <a:ext cx="8046720" cy="2194560"/>
          </a:xfrm>
          <a:prstGeom prst="rect">
            <a:avLst/>
          </a:prstGeom>
          <a:noFill/>
          <a:ln/>
        </p:spPr>
        <p:txBody>
          <a:bodyPr wrap="square" lIns="0" tIns="0" rIns="0" bIns="0" rtlCol="0" anchor="ctr"/>
          <a:lstStyle/>
          <a:p>
            <a:pPr algn="l" indent="0" marL="0">
              <a:buNone/>
            </a:pPr>
            <a:r>
              <a:rPr lang="en-US" sz="1350" dirty="0">
                <a:solidFill>
                  <a:srgbClr val="CADCFC"/>
                </a:solidFill>
                <a:latin typeface="Calibri" pitchFamily="34" charset="0"/>
                <a:ea typeface="Calibri" pitchFamily="34" charset="-122"/>
                <a:cs typeface="Calibri" pitchFamily="34" charset="-120"/>
              </a:rPr>
              <a:t>이번 프로젝트는 단순한 화면 구현이 아니라,
</a:t>
            </a:r>
            <a:pPr algn="l" indent="0" marL="0">
              <a:buNone/>
            </a:pPr>
            <a:r>
              <a:rPr lang="en-US" sz="1350" dirty="0">
                <a:solidFill>
                  <a:srgbClr val="CADCFC"/>
                </a:solidFill>
                <a:latin typeface="Calibri" pitchFamily="34" charset="0"/>
                <a:ea typeface="Calibri" pitchFamily="34" charset="-122"/>
                <a:cs typeface="Calibri" pitchFamily="34" charset="-120"/>
              </a:rPr>
              <a:t>실제 온라인 서점 운영 흐름 — 사용자 주문, 관리자 승인,
배송 처리, 환불 정책, 게시판 운영 — 을 연결하는 데 집중했습니다.
</a:t>
            </a:r>
            <a:pPr algn="l" indent="0" marL="0">
              <a:buNone/>
            </a:pPr>
            <a:r>
              <a:rPr lang="en-US" sz="1350" dirty="0">
                <a:solidFill>
                  <a:srgbClr val="CADCFC"/>
                </a:solidFill>
                <a:latin typeface="Calibri" pitchFamily="34" charset="0"/>
                <a:ea typeface="Calibri" pitchFamily="34" charset="-122"/>
                <a:cs typeface="Calibri" pitchFamily="34" charset="-120"/>
              </a:rPr>
              <a:t>결제 완료와 배송 시작을 분리하고, 관리자 · 사용자 화면 상태를
맞물리게 설계한 것이 핵심 구현 포인트입니다.
</a:t>
            </a:r>
            <a:pPr algn="l" indent="0" marL="0">
              <a:buNone/>
            </a:pPr>
            <a:r>
              <a:rPr lang="en-US" sz="1350" dirty="0">
                <a:solidFill>
                  <a:srgbClr val="CADCFC"/>
                </a:solidFill>
                <a:latin typeface="Calibri" pitchFamily="34" charset="0"/>
                <a:ea typeface="Calibri" pitchFamily="34" charset="-122"/>
                <a:cs typeface="Calibri" pitchFamily="34" charset="-120"/>
              </a:rPr>
              <a:t>향후 네이버페이 정식 연동, 카테고리 동적 반영, 보안 강화를 통해</a:t>
            </a:r>
            <a:endParaRPr lang="en-US" sz="1350" dirty="0"/>
          </a:p>
          <a:p>
            <a:pPr algn="l" indent="0" marL="0">
              <a:buNone/>
            </a:pPr>
            <a:r>
              <a:rPr lang="en-US" sz="1350" dirty="0">
                <a:solidFill>
                  <a:srgbClr val="CADCFC"/>
                </a:solidFill>
                <a:latin typeface="Calibri" pitchFamily="34" charset="0"/>
                <a:ea typeface="Calibri" pitchFamily="34" charset="-122"/>
                <a:cs typeface="Calibri" pitchFamily="34" charset="-120"/>
              </a:rPr>
              <a:t>서비스 완성도를 더욱 높이겠습니다.</a:t>
            </a:r>
            <a:endParaRPr lang="en-US" sz="1350" dirty="0"/>
          </a:p>
        </p:txBody>
      </p:sp>
      <p:sp>
        <p:nvSpPr>
          <p:cNvPr id="8" name="Shape 6"/>
          <p:cNvSpPr/>
          <p:nvPr/>
        </p:nvSpPr>
        <p:spPr>
          <a:xfrm>
            <a:off x="0" y="4343400"/>
            <a:ext cx="9144000" cy="713232"/>
          </a:xfrm>
          <a:prstGeom prst="rect">
            <a:avLst/>
          </a:prstGeom>
          <a:solidFill>
            <a:srgbClr val="142B45"/>
          </a:solidFill>
          <a:ln w="12700">
            <a:solidFill>
              <a:srgbClr val="142B45"/>
            </a:solidFill>
            <a:prstDash val="solid"/>
          </a:ln>
        </p:spPr>
      </p:sp>
      <p:sp>
        <p:nvSpPr>
          <p:cNvPr id="9" name="Text 7"/>
          <p:cNvSpPr/>
          <p:nvPr/>
        </p:nvSpPr>
        <p:spPr>
          <a:xfrm>
            <a:off x="640080" y="4453128"/>
            <a:ext cx="8046720" cy="457200"/>
          </a:xfrm>
          <a:prstGeom prst="rect">
            <a:avLst/>
          </a:prstGeom>
          <a:noFill/>
          <a:ln/>
        </p:spPr>
        <p:txBody>
          <a:bodyPr wrap="square" lIns="0" tIns="0" rIns="0" bIns="0" rtlCol="0" anchor="ctr"/>
          <a:lstStyle/>
          <a:p>
            <a:pPr indent="0" marL="0">
              <a:buNone/>
            </a:pPr>
            <a:r>
              <a:rPr lang="en-US" sz="1200" b="1" dirty="0">
                <a:solidFill>
                  <a:srgbClr val="C8A96E"/>
                </a:solidFill>
                <a:latin typeface="Calibri" pitchFamily="34" charset="0"/>
                <a:ea typeface="Calibri" pitchFamily="34" charset="-122"/>
                <a:cs typeface="Calibri" pitchFamily="34" charset="-120"/>
              </a:rPr>
              <a:t>README 팀</a:t>
            </a:r>
            <a:pPr indent="0" marL="0">
              <a:buNone/>
            </a:pPr>
            <a:r>
              <a:rPr lang="en-US" sz="1200" dirty="0">
                <a:solidFill>
                  <a:srgbClr val="CADCFC"/>
                </a:solidFill>
                <a:latin typeface="Calibri" pitchFamily="34" charset="0"/>
                <a:ea typeface="Calibri" pitchFamily="34" charset="-122"/>
                <a:cs typeface="Calibri" pitchFamily="34" charset="-120"/>
              </a:rPr>
              <a:t>   |   2026.03.13 ~ 2026.04.12   |   Spring Boot 3.x · Vue.js 3 · PostgreSQL · Docker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ReadMe 온라인 서점 프로젝트 발표</dc:title>
  <dc:subject>PptxGenJS Presentation</dc:subject>
  <dc:creator>README Team</dc:creator>
  <cp:lastModifiedBy>README Team</cp:lastModifiedBy>
  <cp:revision>1</cp:revision>
  <dcterms:created xsi:type="dcterms:W3CDTF">2026-04-13T03:23:34Z</dcterms:created>
  <dcterms:modified xsi:type="dcterms:W3CDTF">2026-04-13T03:23:34Z</dcterms:modified>
</cp:coreProperties>
</file>